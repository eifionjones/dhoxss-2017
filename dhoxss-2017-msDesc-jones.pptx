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61" r:id="rId5"/>
    <p:sldId id="260" r:id="rId6"/>
    <p:sldId id="262" r:id="rId7"/>
    <p:sldId id="320" r:id="rId8"/>
    <p:sldId id="263" r:id="rId9"/>
    <p:sldId id="259" r:id="rId10"/>
    <p:sldId id="264" r:id="rId11"/>
    <p:sldId id="290" r:id="rId12"/>
    <p:sldId id="265" r:id="rId13"/>
    <p:sldId id="266" r:id="rId14"/>
    <p:sldId id="267" r:id="rId15"/>
    <p:sldId id="309" r:id="rId16"/>
    <p:sldId id="274" r:id="rId17"/>
    <p:sldId id="268" r:id="rId18"/>
    <p:sldId id="269" r:id="rId19"/>
    <p:sldId id="272" r:id="rId20"/>
    <p:sldId id="310" r:id="rId21"/>
    <p:sldId id="305" r:id="rId22"/>
    <p:sldId id="306" r:id="rId23"/>
    <p:sldId id="311" r:id="rId24"/>
    <p:sldId id="275" r:id="rId25"/>
    <p:sldId id="270" r:id="rId26"/>
    <p:sldId id="308" r:id="rId27"/>
    <p:sldId id="271" r:id="rId28"/>
    <p:sldId id="273" r:id="rId29"/>
    <p:sldId id="312" r:id="rId30"/>
    <p:sldId id="276" r:id="rId31"/>
    <p:sldId id="277" r:id="rId32"/>
    <p:sldId id="278" r:id="rId33"/>
    <p:sldId id="307" r:id="rId34"/>
    <p:sldId id="279" r:id="rId35"/>
    <p:sldId id="313" r:id="rId36"/>
    <p:sldId id="280" r:id="rId37"/>
    <p:sldId id="281" r:id="rId38"/>
    <p:sldId id="314" r:id="rId39"/>
    <p:sldId id="282" r:id="rId40"/>
    <p:sldId id="283" r:id="rId41"/>
    <p:sldId id="315" r:id="rId42"/>
    <p:sldId id="284" r:id="rId43"/>
    <p:sldId id="285" r:id="rId44"/>
    <p:sldId id="316" r:id="rId45"/>
    <p:sldId id="286" r:id="rId46"/>
    <p:sldId id="287" r:id="rId47"/>
    <p:sldId id="317" r:id="rId48"/>
    <p:sldId id="288" r:id="rId49"/>
    <p:sldId id="289" r:id="rId50"/>
    <p:sldId id="318" r:id="rId51"/>
    <p:sldId id="291" r:id="rId52"/>
    <p:sldId id="292" r:id="rId53"/>
    <p:sldId id="293" r:id="rId54"/>
    <p:sldId id="294" r:id="rId55"/>
    <p:sldId id="295" r:id="rId56"/>
    <p:sldId id="297" r:id="rId57"/>
    <p:sldId id="319" r:id="rId58"/>
    <p:sldId id="298" r:id="rId59"/>
    <p:sldId id="299" r:id="rId60"/>
    <p:sldId id="300" r:id="rId61"/>
    <p:sldId id="301" r:id="rId62"/>
    <p:sldId id="302" r:id="rId63"/>
    <p:sldId id="303" r:id="rId64"/>
    <p:sldId id="304" r:id="rId65"/>
    <p:sldId id="29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854"/>
    <p:restoredTop sz="94665"/>
  </p:normalViewPr>
  <p:slideViewPr>
    <p:cSldViewPr snapToGrid="0" snapToObjects="1">
      <p:cViewPr varScale="1">
        <p:scale>
          <a:sx n="114" d="100"/>
          <a:sy n="114" d="100"/>
        </p:scale>
        <p:origin x="103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theme" Target="theme/theme1.xml"/><Relationship Id="rId71" Type="http://schemas.openxmlformats.org/officeDocument/2006/relationships/tableStyles" Target="tableStyles.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F780C7-6D33-EA45-9FAF-9B2C2A905F08}" type="datetimeFigureOut">
              <a:rPr lang="en-US" smtClean="0"/>
              <a:t>7/5/17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0ED3D0-3352-6A40-A60D-55BF4FF927CA}" type="slidenum">
              <a:rPr lang="en-US" smtClean="0"/>
              <a:t>‹#›</a:t>
            </a:fld>
            <a:endParaRPr lang="en-US"/>
          </a:p>
        </p:txBody>
      </p:sp>
    </p:spTree>
    <p:extLst>
      <p:ext uri="{BB962C8B-B14F-4D97-AF65-F5344CB8AC3E}">
        <p14:creationId xmlns:p14="http://schemas.microsoft.com/office/powerpoint/2010/main" val="6453218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F5C2073-8549-7345-9562-3482621FFCF9}" type="datetimeFigureOut">
              <a:rPr lang="en-US" smtClean="0"/>
              <a:t>7/5/17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452434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5C2073-8549-7345-9562-3482621FFCF9}" type="datetimeFigureOut">
              <a:rPr lang="en-US" smtClean="0"/>
              <a:t>7/5/17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1977220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F5C2073-8549-7345-9562-3482621FFCF9}" type="datetimeFigureOut">
              <a:rPr lang="en-US" smtClean="0"/>
              <a:t>7/5/17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97862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F5C2073-8549-7345-9562-3482621FFCF9}" type="datetimeFigureOut">
              <a:rPr lang="en-US" smtClean="0"/>
              <a:t>7/5/17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891212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F5C2073-8549-7345-9562-3482621FFCF9}" type="datetimeFigureOut">
              <a:rPr lang="en-US" smtClean="0"/>
              <a:t>7/5/17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1064595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F5C2073-8549-7345-9562-3482621FFCF9}" type="datetimeFigureOut">
              <a:rPr lang="en-US" smtClean="0"/>
              <a:t>7/5/17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1970775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5C2073-8549-7345-9562-3482621FFCF9}" type="datetimeFigureOut">
              <a:rPr lang="en-US" smtClean="0"/>
              <a:t>7/5/17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43435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5C2073-8549-7345-9562-3482621FFCF9}" type="datetimeFigureOut">
              <a:rPr lang="en-US" smtClean="0"/>
              <a:t>7/5/17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2022567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F5C2073-8549-7345-9562-3482621FFCF9}" type="datetimeFigureOut">
              <a:rPr lang="en-US" smtClean="0"/>
              <a:t>7/5/17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778063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5C2073-8549-7345-9562-3482621FFCF9}" type="datetimeFigureOut">
              <a:rPr lang="en-US" smtClean="0"/>
              <a:t>7/5/17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888864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F5C2073-8549-7345-9562-3482621FFCF9}" type="datetimeFigureOut">
              <a:rPr lang="en-US" smtClean="0"/>
              <a:t>7/5/17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83098DB-34F7-E849-9C63-7637C02A1A26}" type="slidenum">
              <a:rPr lang="en-US" smtClean="0"/>
              <a:t>‹#›</a:t>
            </a:fld>
            <a:endParaRPr lang="en-US"/>
          </a:p>
        </p:txBody>
      </p:sp>
    </p:spTree>
    <p:extLst>
      <p:ext uri="{BB962C8B-B14F-4D97-AF65-F5344CB8AC3E}">
        <p14:creationId xmlns:p14="http://schemas.microsoft.com/office/powerpoint/2010/main" val="124426002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5C2073-8549-7345-9562-3482621FFCF9}" type="datetimeFigureOut">
              <a:rPr lang="en-US" smtClean="0"/>
              <a:t>7/5/17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3098DB-34F7-E849-9C63-7637C02A1A26}" type="slidenum">
              <a:rPr lang="en-US" smtClean="0"/>
              <a:t>‹#›</a:t>
            </a:fld>
            <a:endParaRPr lang="en-US"/>
          </a:p>
        </p:txBody>
      </p:sp>
    </p:spTree>
    <p:extLst>
      <p:ext uri="{BB962C8B-B14F-4D97-AF65-F5344CB8AC3E}">
        <p14:creationId xmlns:p14="http://schemas.microsoft.com/office/powerpoint/2010/main" val="4366278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4" Type="http://schemas.openxmlformats.org/officeDocument/2006/relationships/image" Target="../media/image3.png"/><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journal.digitalmedievalist.org/articles/10.16995/dm.12/"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LG-MISC-00117/1" TargetMode="External"/><Relationship Id="rId3" Type="http://schemas.openxmlformats.org/officeDocument/2006/relationships/hyperlink" Target="https://cudl.lib.cam.ac.uk/view/MS-PETERHOUSE-00075-00001/12"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www.e-codices.unifr.ch/en" TargetMode="External"/><Relationship Id="rId4" Type="http://schemas.openxmlformats.org/officeDocument/2006/relationships/hyperlink" Target="https://parker.stanford.edu/" TargetMode="External"/><Relationship Id="rId5" Type="http://schemas.openxmlformats.org/officeDocument/2006/relationships/hyperlink" Target="http://www.manuscriptorium.com/" TargetMode="External"/><Relationship Id="rId6" Type="http://schemas.openxmlformats.org/officeDocument/2006/relationships/hyperlink" Target="http://www.fihrist.org.uk/" TargetMode="External"/><Relationship Id="rId7" Type="http://schemas.openxmlformats.org/officeDocument/2006/relationships/hyperlink" Target="http://digital.bodleian.ox.ac.uk/" TargetMode="External"/><Relationship Id="rId8" Type="http://schemas.openxmlformats.org/officeDocument/2006/relationships/hyperlink" Target="https://cudl.lib.cam.ac.uk/" TargetMode="External"/><Relationship Id="rId1" Type="http://schemas.openxmlformats.org/officeDocument/2006/relationships/slideLayout" Target="../slideLayouts/slideLayout2.xml"/><Relationship Id="rId2" Type="http://schemas.openxmlformats.org/officeDocument/2006/relationships/hyperlink" Target="http://thedigitalwalters.org/"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magicandmedicine.hps.cam.ac.uk/view/person/PERSON2824"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tei-c.org/release/doc/tei-p5-doc/en/html/MS.html#msov"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teachingthecodex.wordpress.com/2017/04/08/reading-a-manuscript-description/"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ADD-03996/3" TargetMode="External"/><Relationship Id="rId3" Type="http://schemas.openxmlformats.org/officeDocument/2006/relationships/hyperlink" Target="https://cudl.lib.cam.ac.uk/view/MS-EE-00004-00024/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DD-00004-00017/12" TargetMode="External"/><Relationship Id="rId3" Type="http://schemas.openxmlformats.org/officeDocument/2006/relationships/hyperlink" Target="https://cudl.lib.cam.ac.uk/view/MS-ADD-03020/1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NN-00003-00074/458" TargetMode="External"/><Relationship Id="rId3" Type="http://schemas.openxmlformats.org/officeDocument/2006/relationships/hyperlink" Target="https://cudl.lib.cam.ac.uk/view/MS-FF-00004-00042/53"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ADD-00864/132"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II-00006-00032/10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ADD-10139/2" TargetMode="External"/><Relationship Id="rId3" Type="http://schemas.openxmlformats.org/officeDocument/2006/relationships/hyperlink" Target="https://cudl.lib.cam.ac.uk/view/MS-ADD-04004/1"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UA-LUARD-00007-AST/1"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PR-FG-00870/1"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ORCS-00001-00001/1"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WARD-B/5"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KK-00005-00016/13"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cudl.lib.cam.ac.uk/view/MS-ADD-01464/2"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t"/>
          <a:lstStyle/>
          <a:p>
            <a:r>
              <a:rPr lang="en-US" dirty="0" smtClean="0"/>
              <a:t>TEI for Manuscript Description</a:t>
            </a:r>
            <a:endParaRPr lang="en-US" dirty="0"/>
          </a:p>
        </p:txBody>
      </p:sp>
      <p:sp>
        <p:nvSpPr>
          <p:cNvPr id="3" name="Subtitle 2"/>
          <p:cNvSpPr>
            <a:spLocks noGrp="1"/>
          </p:cNvSpPr>
          <p:nvPr>
            <p:ph type="subTitle" idx="1"/>
          </p:nvPr>
        </p:nvSpPr>
        <p:spPr/>
        <p:txBody>
          <a:bodyPr/>
          <a:lstStyle/>
          <a:p>
            <a:r>
              <a:rPr lang="en-US" dirty="0" smtClean="0"/>
              <a:t>Huw Jones, Cambridge University Library</a:t>
            </a:r>
          </a:p>
          <a:p>
            <a:r>
              <a:rPr lang="en-US" dirty="0" smtClean="0"/>
              <a:t>5</a:t>
            </a:r>
            <a:r>
              <a:rPr lang="en-US" baseline="30000" dirty="0" smtClean="0"/>
              <a:t>th</a:t>
            </a:r>
            <a:r>
              <a:rPr lang="en-US" dirty="0" smtClean="0"/>
              <a:t> July 2017</a:t>
            </a:r>
            <a:endParaRPr lang="en-US" dirty="0"/>
          </a:p>
        </p:txBody>
      </p:sp>
    </p:spTree>
    <p:extLst>
      <p:ext uri="{BB962C8B-B14F-4D97-AF65-F5344CB8AC3E}">
        <p14:creationId xmlns:p14="http://schemas.microsoft.com/office/powerpoint/2010/main" val="825024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735981" y="1390727"/>
            <a:ext cx="10515600" cy="4351338"/>
          </a:xfrm>
        </p:spPr>
        <p:txBody>
          <a:bodyPr/>
          <a:lstStyle/>
          <a:p>
            <a:pPr marL="0" indent="0">
              <a:buNone/>
            </a:pPr>
            <a:r>
              <a:rPr lang="en-US" sz="4400" dirty="0" smtClean="0">
                <a:solidFill>
                  <a:schemeClr val="accent1"/>
                </a:solidFill>
              </a:rPr>
              <a:t>&lt;</a:t>
            </a:r>
            <a:r>
              <a:rPr lang="en-US" sz="4400" dirty="0" err="1" smtClean="0">
                <a:solidFill>
                  <a:schemeClr val="accent1"/>
                </a:solidFill>
              </a:rPr>
              <a:t>msDesc</a:t>
            </a:r>
            <a:r>
              <a:rPr lang="en-US" sz="4400" dirty="0" smtClean="0">
                <a:solidFill>
                  <a:schemeClr val="accent1"/>
                </a:solidFill>
              </a:rPr>
              <a:t>&gt;</a:t>
            </a:r>
            <a:r>
              <a:rPr lang="en-US" sz="4400" dirty="0" smtClean="0"/>
              <a:t> is a module for ‘</a:t>
            </a:r>
            <a:r>
              <a:rPr lang="en-US" sz="4400" dirty="0" smtClean="0">
                <a:effectLst/>
              </a:rPr>
              <a:t>description of a single identifiable manuscript or other text-bearing object’</a:t>
            </a:r>
          </a:p>
          <a:p>
            <a:pPr marL="0" indent="0">
              <a:buNone/>
            </a:pPr>
            <a:endParaRPr lang="en-US" sz="4400" dirty="0"/>
          </a:p>
          <a:p>
            <a:pPr marL="0" indent="0">
              <a:buNone/>
            </a:pPr>
            <a:r>
              <a:rPr lang="en-US" sz="4400" dirty="0"/>
              <a:t>I</a:t>
            </a:r>
            <a:r>
              <a:rPr lang="en-US" sz="4400" smtClean="0"/>
              <a:t>t </a:t>
            </a:r>
            <a:r>
              <a:rPr lang="en-US" sz="4400" dirty="0" smtClean="0"/>
              <a:t>(usually) goes in the </a:t>
            </a:r>
            <a:r>
              <a:rPr lang="en-US" sz="4400" dirty="0" smtClean="0">
                <a:solidFill>
                  <a:schemeClr val="accent1"/>
                </a:solidFill>
              </a:rPr>
              <a:t>&lt;</a:t>
            </a:r>
            <a:r>
              <a:rPr lang="en-US" sz="4400" dirty="0" err="1" smtClean="0">
                <a:solidFill>
                  <a:schemeClr val="accent1"/>
                </a:solidFill>
              </a:rPr>
              <a:t>teiHeader</a:t>
            </a:r>
            <a:r>
              <a:rPr lang="en-US" sz="4400" dirty="0" smtClean="0">
                <a:solidFill>
                  <a:schemeClr val="accent1"/>
                </a:solidFill>
              </a:rPr>
              <a:t>&gt;</a:t>
            </a:r>
            <a:endParaRPr lang="en-US" sz="4400" dirty="0" smtClean="0">
              <a:solidFill>
                <a:schemeClr val="accent1"/>
              </a:solidFill>
              <a:effectLst/>
            </a:endParaRPr>
          </a:p>
          <a:p>
            <a:endParaRPr lang="en-US" dirty="0" smtClean="0">
              <a:effectLst/>
            </a:endParaRPr>
          </a:p>
          <a:p>
            <a:endParaRPr lang="en-US" dirty="0"/>
          </a:p>
        </p:txBody>
      </p:sp>
    </p:spTree>
    <p:extLst>
      <p:ext uri="{BB962C8B-B14F-4D97-AF65-F5344CB8AC3E}">
        <p14:creationId xmlns:p14="http://schemas.microsoft.com/office/powerpoint/2010/main" val="3411727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r="10369"/>
          <a:stretch/>
        </p:blipFill>
        <p:spPr>
          <a:xfrm>
            <a:off x="1" y="0"/>
            <a:ext cx="3671311" cy="685800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1818" y="0"/>
            <a:ext cx="4368103" cy="6858000"/>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1312" y="0"/>
            <a:ext cx="4340506" cy="6858000"/>
          </a:xfrm>
          <a:prstGeom prst="rect">
            <a:avLst/>
          </a:prstGeom>
        </p:spPr>
      </p:pic>
    </p:spTree>
    <p:extLst>
      <p:ext uri="{BB962C8B-B14F-4D97-AF65-F5344CB8AC3E}">
        <p14:creationId xmlns:p14="http://schemas.microsoft.com/office/powerpoint/2010/main" val="15862947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a:t>
            </a:r>
            <a:endParaRPr lang="en-US" dirty="0"/>
          </a:p>
        </p:txBody>
      </p:sp>
      <p:sp>
        <p:nvSpPr>
          <p:cNvPr id="3" name="Content Placeholder 2"/>
          <p:cNvSpPr>
            <a:spLocks noGrp="1"/>
          </p:cNvSpPr>
          <p:nvPr>
            <p:ph idx="1"/>
          </p:nvPr>
        </p:nvSpPr>
        <p:spPr/>
        <p:txBody>
          <a:bodyPr/>
          <a:lstStyle/>
          <a:p>
            <a:r>
              <a:rPr lang="en-US" dirty="0" smtClean="0"/>
              <a:t>Introduced in TEI P5 (2007)</a:t>
            </a:r>
          </a:p>
          <a:p>
            <a:r>
              <a:rPr lang="en-GB" dirty="0" smtClean="0"/>
              <a:t>Developed from MASTER (1999-2001) and TEI Medieval Manuscript Description Work Group (1998-2000)</a:t>
            </a:r>
          </a:p>
          <a:p>
            <a:r>
              <a:rPr lang="en-GB" dirty="0" smtClean="0"/>
              <a:t>All the history: M. J. Driscoll, ‘P5-MS: A general purpose </a:t>
            </a:r>
            <a:r>
              <a:rPr lang="en-GB" dirty="0" err="1" smtClean="0"/>
              <a:t>tagset</a:t>
            </a:r>
            <a:r>
              <a:rPr lang="en-GB" dirty="0" smtClean="0"/>
              <a:t> for manuscript description’, </a:t>
            </a:r>
            <a:r>
              <a:rPr lang="en-GB" i="1" dirty="0" smtClean="0"/>
              <a:t>Digital Medievalist </a:t>
            </a:r>
            <a:r>
              <a:rPr lang="en-GB" dirty="0"/>
              <a:t>2</a:t>
            </a:r>
            <a:r>
              <a:rPr lang="en-GB" dirty="0" smtClean="0"/>
              <a:t> (2006) </a:t>
            </a:r>
            <a:r>
              <a:rPr lang="en-GB" dirty="0" smtClean="0">
                <a:hlinkClick r:id="rId2"/>
              </a:rPr>
              <a:t>http://</a:t>
            </a:r>
            <a:r>
              <a:rPr lang="en-GB" dirty="0" err="1" smtClean="0">
                <a:hlinkClick r:id="rId2"/>
              </a:rPr>
              <a:t>journal.digitalmedievalist.org</a:t>
            </a:r>
            <a:r>
              <a:rPr lang="en-GB" dirty="0" smtClean="0">
                <a:hlinkClick r:id="rId2"/>
              </a:rPr>
              <a:t>/articles/10.16995/dm.12/</a:t>
            </a:r>
            <a:endParaRPr lang="en-GB" dirty="0" smtClean="0"/>
          </a:p>
          <a:p>
            <a:endParaRPr lang="en-US" dirty="0"/>
          </a:p>
        </p:txBody>
      </p:sp>
    </p:spTree>
    <p:extLst>
      <p:ext uri="{BB962C8B-B14F-4D97-AF65-F5344CB8AC3E}">
        <p14:creationId xmlns:p14="http://schemas.microsoft.com/office/powerpoint/2010/main" val="105938774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range of possibilities</a:t>
            </a:r>
            <a:endParaRPr lang="en-US" dirty="0"/>
          </a:p>
        </p:txBody>
      </p:sp>
      <p:sp>
        <p:nvSpPr>
          <p:cNvPr id="3" name="Content Placeholder 2"/>
          <p:cNvSpPr>
            <a:spLocks noGrp="1"/>
          </p:cNvSpPr>
          <p:nvPr>
            <p:ph idx="1"/>
          </p:nvPr>
        </p:nvSpPr>
        <p:spPr/>
        <p:txBody>
          <a:bodyPr/>
          <a:lstStyle/>
          <a:p>
            <a:r>
              <a:rPr lang="en-US" dirty="0" smtClean="0"/>
              <a:t>Lewis-Gibson </a:t>
            </a:r>
            <a:r>
              <a:rPr lang="de-DE" dirty="0"/>
              <a:t>L-G </a:t>
            </a:r>
            <a:r>
              <a:rPr lang="de-DE" dirty="0" err="1"/>
              <a:t>Misc</a:t>
            </a:r>
            <a:r>
              <a:rPr lang="de-DE" dirty="0"/>
              <a:t>. 117</a:t>
            </a:r>
          </a:p>
          <a:p>
            <a:r>
              <a:rPr lang="de-DE" dirty="0">
                <a:hlinkClick r:id="rId2"/>
              </a:rPr>
              <a:t>https://</a:t>
            </a:r>
            <a:r>
              <a:rPr lang="de-DE" dirty="0" smtClean="0">
                <a:hlinkClick r:id="rId2"/>
              </a:rPr>
              <a:t>cudl.lib.cam.ac.uk/view/MS-LG-MISC-00117/1</a:t>
            </a:r>
            <a:endParaRPr lang="de-DE" dirty="0" smtClean="0"/>
          </a:p>
          <a:p>
            <a:r>
              <a:rPr lang="de-DE" dirty="0" err="1" smtClean="0"/>
              <a:t>Equatorie</a:t>
            </a:r>
            <a:r>
              <a:rPr lang="de-DE" dirty="0" smtClean="0"/>
              <a:t> </a:t>
            </a:r>
            <a:r>
              <a:rPr lang="de-DE" dirty="0" err="1" smtClean="0"/>
              <a:t>of</a:t>
            </a:r>
            <a:r>
              <a:rPr lang="de-DE" dirty="0" smtClean="0"/>
              <a:t> </a:t>
            </a:r>
            <a:r>
              <a:rPr lang="de-DE" dirty="0" err="1" smtClean="0"/>
              <a:t>the</a:t>
            </a:r>
            <a:r>
              <a:rPr lang="de-DE" dirty="0" smtClean="0"/>
              <a:t> </a:t>
            </a:r>
            <a:r>
              <a:rPr lang="de-DE" dirty="0" err="1" smtClean="0"/>
              <a:t>Planetis</a:t>
            </a:r>
            <a:endParaRPr lang="de-DE" dirty="0" smtClean="0"/>
          </a:p>
          <a:p>
            <a:r>
              <a:rPr lang="de-DE" dirty="0">
                <a:hlinkClick r:id="rId3"/>
              </a:rPr>
              <a:t>https://</a:t>
            </a:r>
            <a:r>
              <a:rPr lang="de-DE" dirty="0" err="1">
                <a:hlinkClick r:id="rId3"/>
              </a:rPr>
              <a:t>cudl.lib.cam.ac.uk</a:t>
            </a:r>
            <a:r>
              <a:rPr lang="de-DE" dirty="0">
                <a:hlinkClick r:id="rId3"/>
              </a:rPr>
              <a:t>/</a:t>
            </a:r>
            <a:r>
              <a:rPr lang="de-DE" dirty="0" err="1">
                <a:hlinkClick r:id="rId3"/>
              </a:rPr>
              <a:t>view</a:t>
            </a:r>
            <a:r>
              <a:rPr lang="de-DE" dirty="0">
                <a:hlinkClick r:id="rId3"/>
              </a:rPr>
              <a:t>/MS-PETERHOUSE-00075-00001/12</a:t>
            </a:r>
            <a:endParaRPr lang="en-US" dirty="0"/>
          </a:p>
        </p:txBody>
      </p:sp>
    </p:spTree>
    <p:extLst>
      <p:ext uri="{BB962C8B-B14F-4D97-AF65-F5344CB8AC3E}">
        <p14:creationId xmlns:p14="http://schemas.microsoft.com/office/powerpoint/2010/main" val="9417804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Very widely used</a:t>
            </a:r>
            <a:endParaRPr lang="en-US" dirty="0"/>
          </a:p>
        </p:txBody>
      </p:sp>
      <p:sp>
        <p:nvSpPr>
          <p:cNvPr id="3" name="Content Placeholder 2"/>
          <p:cNvSpPr>
            <a:spLocks noGrp="1"/>
          </p:cNvSpPr>
          <p:nvPr>
            <p:ph idx="1"/>
          </p:nvPr>
        </p:nvSpPr>
        <p:spPr/>
        <p:txBody>
          <a:bodyPr/>
          <a:lstStyle/>
          <a:p>
            <a:pPr lvl="1"/>
            <a:endParaRPr lang="en-GB" dirty="0">
              <a:hlinkClick r:id="rId2"/>
            </a:endParaRPr>
          </a:p>
          <a:p>
            <a:pPr lvl="1"/>
            <a:r>
              <a:rPr lang="en-GB" dirty="0" smtClean="0">
                <a:hlinkClick r:id="rId2"/>
              </a:rPr>
              <a:t>Digital Walters</a:t>
            </a:r>
            <a:endParaRPr lang="en-GB" dirty="0" smtClean="0"/>
          </a:p>
          <a:p>
            <a:pPr lvl="1"/>
            <a:r>
              <a:rPr lang="en-GB" dirty="0" smtClean="0">
                <a:hlinkClick r:id="rId3"/>
              </a:rPr>
              <a:t>e-codices</a:t>
            </a:r>
            <a:endParaRPr lang="en-GB" dirty="0" smtClean="0"/>
          </a:p>
          <a:p>
            <a:pPr lvl="1"/>
            <a:r>
              <a:rPr lang="en-GB" dirty="0" smtClean="0">
                <a:hlinkClick r:id="rId4"/>
              </a:rPr>
              <a:t>Parker Library</a:t>
            </a:r>
            <a:endParaRPr lang="en-GB" dirty="0" smtClean="0"/>
          </a:p>
          <a:p>
            <a:pPr lvl="1"/>
            <a:r>
              <a:rPr lang="en-GB" dirty="0" smtClean="0">
                <a:hlinkClick r:id="rId5"/>
              </a:rPr>
              <a:t>Manuscriptorium</a:t>
            </a:r>
            <a:endParaRPr lang="en-GB" dirty="0" smtClean="0"/>
          </a:p>
          <a:p>
            <a:pPr lvl="1"/>
            <a:r>
              <a:rPr lang="en-GB" dirty="0" smtClean="0">
                <a:hlinkClick r:id="rId6"/>
              </a:rPr>
              <a:t>Fihrist</a:t>
            </a:r>
            <a:endParaRPr lang="en-GB" dirty="0" smtClean="0"/>
          </a:p>
          <a:p>
            <a:pPr lvl="1"/>
            <a:r>
              <a:rPr lang="en-GB" dirty="0" smtClean="0">
                <a:hlinkClick r:id="rId7"/>
              </a:rPr>
              <a:t>Digital Bodleian</a:t>
            </a:r>
            <a:endParaRPr lang="en-GB" dirty="0" smtClean="0"/>
          </a:p>
          <a:p>
            <a:pPr lvl="1"/>
            <a:r>
              <a:rPr lang="en-GB" dirty="0" smtClean="0">
                <a:hlinkClick r:id="rId8"/>
              </a:rPr>
              <a:t>Cambridge Digital Library</a:t>
            </a:r>
            <a:endParaRPr lang="en-GB" dirty="0" smtClean="0"/>
          </a:p>
          <a:p>
            <a:endParaRPr lang="en-US" dirty="0"/>
          </a:p>
        </p:txBody>
      </p:sp>
    </p:spTree>
    <p:extLst>
      <p:ext uri="{BB962C8B-B14F-4D97-AF65-F5344CB8AC3E}">
        <p14:creationId xmlns:p14="http://schemas.microsoft.com/office/powerpoint/2010/main" val="2714086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Used by …</a:t>
            </a:r>
            <a:endParaRPr lang="en-US" dirty="0"/>
          </a:p>
        </p:txBody>
      </p:sp>
      <p:sp>
        <p:nvSpPr>
          <p:cNvPr id="3" name="Content Placeholder 2"/>
          <p:cNvSpPr>
            <a:spLocks noGrp="1"/>
          </p:cNvSpPr>
          <p:nvPr>
            <p:ph idx="1"/>
          </p:nvPr>
        </p:nvSpPr>
        <p:spPr/>
        <p:txBody>
          <a:bodyPr/>
          <a:lstStyle/>
          <a:p>
            <a:r>
              <a:rPr lang="en-US" dirty="0" smtClean="0"/>
              <a:t>Libraries and other heritage institutions to create catalogues of manuscript holdings, often with digital images</a:t>
            </a:r>
          </a:p>
          <a:p>
            <a:r>
              <a:rPr lang="en-US" dirty="0" smtClean="0"/>
              <a:t>Academics to publish research on manuscripts, and/or to create datasets of manuscript descriptions to answer their research questions e.g. </a:t>
            </a:r>
            <a:r>
              <a:rPr lang="en-US" dirty="0" smtClean="0">
                <a:hlinkClick r:id="rId2"/>
              </a:rPr>
              <a:t>Casebooks</a:t>
            </a:r>
            <a:endParaRPr lang="en-US" dirty="0"/>
          </a:p>
          <a:p>
            <a:r>
              <a:rPr lang="en-US" dirty="0" smtClean="0"/>
              <a:t>Increasingly, the basis of collaborative projects between researchers and libraries</a:t>
            </a:r>
            <a:endParaRPr lang="en-US" dirty="0"/>
          </a:p>
        </p:txBody>
      </p:sp>
    </p:spTree>
    <p:extLst>
      <p:ext uri="{BB962C8B-B14F-4D97-AF65-F5344CB8AC3E}">
        <p14:creationId xmlns:p14="http://schemas.microsoft.com/office/powerpoint/2010/main" val="1708414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 in progress …</a:t>
            </a:r>
            <a:endParaRPr lang="en-US" dirty="0"/>
          </a:p>
        </p:txBody>
      </p:sp>
      <p:sp>
        <p:nvSpPr>
          <p:cNvPr id="3" name="Content Placeholder 2"/>
          <p:cNvSpPr>
            <a:spLocks noGrp="1"/>
          </p:cNvSpPr>
          <p:nvPr>
            <p:ph idx="1"/>
          </p:nvPr>
        </p:nvSpPr>
        <p:spPr/>
        <p:txBody>
          <a:bodyPr/>
          <a:lstStyle/>
          <a:p>
            <a:r>
              <a:rPr lang="en-US" dirty="0" smtClean="0"/>
              <a:t>Mainly developed for Western manuscripts – need manuscript scholars of other traditions to contribute back to the TEI</a:t>
            </a:r>
          </a:p>
          <a:p>
            <a:pPr lvl="1"/>
            <a:r>
              <a:rPr lang="en-US" dirty="0" err="1" smtClean="0"/>
              <a:t>Fihrist</a:t>
            </a:r>
            <a:r>
              <a:rPr lang="en-US" dirty="0" smtClean="0"/>
              <a:t> – Arabic</a:t>
            </a:r>
          </a:p>
          <a:p>
            <a:pPr lvl="1"/>
            <a:r>
              <a:rPr lang="en-US" dirty="0" smtClean="0"/>
              <a:t>Sanskrit</a:t>
            </a:r>
          </a:p>
          <a:p>
            <a:pPr lvl="1"/>
            <a:r>
              <a:rPr lang="en-US" dirty="0" err="1" smtClean="0"/>
              <a:t>Genizah</a:t>
            </a:r>
            <a:endParaRPr lang="en-US" dirty="0" smtClean="0"/>
          </a:p>
          <a:p>
            <a:r>
              <a:rPr lang="en-US" dirty="0" smtClean="0"/>
              <a:t>TEI community open to new developments – e.g. </a:t>
            </a:r>
            <a:r>
              <a:rPr lang="en-US" dirty="0" smtClean="0">
                <a:solidFill>
                  <a:schemeClr val="accent1"/>
                </a:solidFill>
              </a:rPr>
              <a:t>&lt;</a:t>
            </a:r>
            <a:r>
              <a:rPr lang="en-US" dirty="0" err="1" smtClean="0">
                <a:solidFill>
                  <a:schemeClr val="accent1"/>
                </a:solidFill>
              </a:rPr>
              <a:t>msFrag</a:t>
            </a:r>
            <a:r>
              <a:rPr lang="en-US" dirty="0" smtClean="0">
                <a:solidFill>
                  <a:schemeClr val="accent1"/>
                </a:solidFill>
              </a:rPr>
              <a:t>&gt;</a:t>
            </a:r>
          </a:p>
          <a:p>
            <a:pPr lvl="1"/>
            <a:endParaRPr lang="en-US" dirty="0"/>
          </a:p>
        </p:txBody>
      </p:sp>
    </p:spTree>
    <p:extLst>
      <p:ext uri="{BB962C8B-B14F-4D97-AF65-F5344CB8AC3E}">
        <p14:creationId xmlns:p14="http://schemas.microsoft.com/office/powerpoint/2010/main" val="11997289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standards are available</a:t>
            </a:r>
            <a:endParaRPr lang="en-US" dirty="0"/>
          </a:p>
        </p:txBody>
      </p:sp>
      <p:sp>
        <p:nvSpPr>
          <p:cNvPr id="3" name="Content Placeholder 2"/>
          <p:cNvSpPr>
            <a:spLocks noGrp="1"/>
          </p:cNvSpPr>
          <p:nvPr>
            <p:ph idx="1"/>
          </p:nvPr>
        </p:nvSpPr>
        <p:spPr/>
        <p:txBody>
          <a:bodyPr/>
          <a:lstStyle/>
          <a:p>
            <a:r>
              <a:rPr lang="en-US" dirty="0" smtClean="0"/>
              <a:t>MARC, EAD</a:t>
            </a:r>
          </a:p>
          <a:p>
            <a:r>
              <a:rPr lang="en-US" dirty="0" smtClean="0"/>
              <a:t>Geared towards archival material and printed books, and towards catalogues/finding aids</a:t>
            </a:r>
          </a:p>
          <a:p>
            <a:r>
              <a:rPr lang="en-US" dirty="0" smtClean="0"/>
              <a:t>Not sophisticated enough to record detailed information produced by manuscript scholars</a:t>
            </a:r>
          </a:p>
          <a:p>
            <a:r>
              <a:rPr lang="en-US" dirty="0" smtClean="0">
                <a:solidFill>
                  <a:schemeClr val="accent1"/>
                </a:solidFill>
              </a:rPr>
              <a:t>&lt;</a:t>
            </a:r>
            <a:r>
              <a:rPr lang="en-US" dirty="0" err="1" smtClean="0">
                <a:solidFill>
                  <a:schemeClr val="accent1"/>
                </a:solidFill>
              </a:rPr>
              <a:t>msDesc</a:t>
            </a:r>
            <a:r>
              <a:rPr lang="en-US" dirty="0" smtClean="0">
                <a:solidFill>
                  <a:schemeClr val="accent1"/>
                </a:solidFill>
              </a:rPr>
              <a:t>&gt;</a:t>
            </a:r>
            <a:r>
              <a:rPr lang="en-US" dirty="0" smtClean="0"/>
              <a:t> as the basis of collaborative work between researchers, librarians, archivists</a:t>
            </a:r>
          </a:p>
          <a:p>
            <a:r>
              <a:rPr lang="en-US" dirty="0" smtClean="0"/>
              <a:t>The problem of home-grown metadata</a:t>
            </a:r>
            <a:endParaRPr lang="en-US" dirty="0"/>
          </a:p>
        </p:txBody>
      </p:sp>
    </p:spTree>
    <p:extLst>
      <p:ext uri="{BB962C8B-B14F-4D97-AF65-F5344CB8AC3E}">
        <p14:creationId xmlns:p14="http://schemas.microsoft.com/office/powerpoint/2010/main" val="72254987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Points of discussion</a:t>
            </a:r>
            <a:endParaRPr lang="en-US" dirty="0"/>
          </a:p>
        </p:txBody>
      </p:sp>
      <p:sp>
        <p:nvSpPr>
          <p:cNvPr id="3" name="Content Placeholder 2"/>
          <p:cNvSpPr>
            <a:spLocks noGrp="1"/>
          </p:cNvSpPr>
          <p:nvPr>
            <p:ph idx="1"/>
          </p:nvPr>
        </p:nvSpPr>
        <p:spPr/>
        <p:txBody>
          <a:bodyPr>
            <a:normAutofit/>
          </a:bodyPr>
          <a:lstStyle/>
          <a:p>
            <a:r>
              <a:rPr lang="en-US" dirty="0" smtClean="0"/>
              <a:t>Retro conversion vs creation of new records</a:t>
            </a:r>
          </a:p>
          <a:p>
            <a:r>
              <a:rPr lang="en-US" dirty="0"/>
              <a:t>Research questions and markup, display vs </a:t>
            </a:r>
            <a:r>
              <a:rPr lang="en-US" dirty="0" smtClean="0"/>
              <a:t>analysis</a:t>
            </a:r>
          </a:p>
          <a:p>
            <a:r>
              <a:rPr lang="en-US" dirty="0" smtClean="0"/>
              <a:t>Different approaches, different possibilities – e.g. examples at: </a:t>
            </a:r>
            <a:r>
              <a:rPr lang="en-US" dirty="0" smtClean="0">
                <a:hlinkClick r:id="rId2"/>
              </a:rPr>
              <a:t>http</a:t>
            </a:r>
            <a:r>
              <a:rPr lang="en-US" dirty="0">
                <a:hlinkClick r:id="rId2"/>
              </a:rPr>
              <a:t>://</a:t>
            </a:r>
            <a:r>
              <a:rPr lang="en-US" dirty="0" smtClean="0">
                <a:hlinkClick r:id="rId2"/>
              </a:rPr>
              <a:t>www.tei-c.org/release/doc/tei-p5-doc/en/html/MS.html#msov</a:t>
            </a:r>
            <a:endParaRPr lang="en-US" dirty="0" smtClean="0"/>
          </a:p>
          <a:p>
            <a:r>
              <a:rPr lang="en-US" dirty="0" smtClean="0"/>
              <a:t>What decisions need to be made when deciding what to mark up?</a:t>
            </a:r>
          </a:p>
          <a:p>
            <a:r>
              <a:rPr lang="en-US" dirty="0" smtClean="0"/>
              <a:t>The TEI record as an evolving, collaborative document</a:t>
            </a:r>
          </a:p>
          <a:p>
            <a:r>
              <a:rPr lang="en-US" dirty="0"/>
              <a:t>Flexibility vs interoperability – development of ODDs to manage differences in practice</a:t>
            </a:r>
          </a:p>
          <a:p>
            <a:endParaRPr lang="en-US" dirty="0" smtClean="0"/>
          </a:p>
        </p:txBody>
      </p:sp>
    </p:spTree>
    <p:extLst>
      <p:ext uri="{BB962C8B-B14F-4D97-AF65-F5344CB8AC3E}">
        <p14:creationId xmlns:p14="http://schemas.microsoft.com/office/powerpoint/2010/main" val="784387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to manuscript description?</a:t>
            </a:r>
            <a:endParaRPr lang="en-US" dirty="0"/>
          </a:p>
        </p:txBody>
      </p:sp>
      <p:sp>
        <p:nvSpPr>
          <p:cNvPr id="3" name="Content Placeholder 2"/>
          <p:cNvSpPr>
            <a:spLocks noGrp="1"/>
          </p:cNvSpPr>
          <p:nvPr>
            <p:ph idx="1"/>
          </p:nvPr>
        </p:nvSpPr>
        <p:spPr/>
        <p:txBody>
          <a:bodyPr/>
          <a:lstStyle/>
          <a:p>
            <a:pPr marL="0" indent="0">
              <a:buNone/>
            </a:pPr>
            <a:r>
              <a:rPr lang="en-US" dirty="0"/>
              <a:t>Matthew </a:t>
            </a:r>
            <a:r>
              <a:rPr lang="en-US" dirty="0" err="1"/>
              <a:t>Holford</a:t>
            </a:r>
            <a:r>
              <a:rPr lang="en-US" dirty="0"/>
              <a:t>, “Reading a manuscript description”, </a:t>
            </a:r>
            <a:r>
              <a:rPr lang="en-US" i="1" dirty="0"/>
              <a:t>Teaching the Codex </a:t>
            </a:r>
            <a:r>
              <a:rPr lang="en-US" dirty="0"/>
              <a:t>(2017) </a:t>
            </a:r>
            <a:r>
              <a:rPr lang="en-US" dirty="0">
                <a:hlinkClick r:id="rId2"/>
              </a:rPr>
              <a:t>https://teachingthecodex.wordpress.com/2017/04/08/reading-a-manuscript-description</a:t>
            </a:r>
            <a:r>
              <a:rPr lang="en-US" dirty="0" smtClean="0">
                <a:hlinkClick r:id="rId2"/>
              </a:rPr>
              <a:t>/</a:t>
            </a:r>
            <a:endParaRPr lang="en-US" dirty="0"/>
          </a:p>
        </p:txBody>
      </p:sp>
    </p:spTree>
    <p:extLst>
      <p:ext uri="{BB962C8B-B14F-4D97-AF65-F5344CB8AC3E}">
        <p14:creationId xmlns:p14="http://schemas.microsoft.com/office/powerpoint/2010/main" val="11645892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msDesc</a:t>
            </a:r>
            <a:r>
              <a:rPr lang="en-US" dirty="0" smtClean="0">
                <a:solidFill>
                  <a:schemeClr val="accent1"/>
                </a:solidFill>
              </a:rPr>
              <a:t>&gt;</a:t>
            </a:r>
            <a:r>
              <a:rPr lang="en-US" dirty="0" smtClean="0"/>
              <a:t> - the basics</a:t>
            </a:r>
            <a:endParaRPr lang="en-US" dirty="0"/>
          </a:p>
        </p:txBody>
      </p:sp>
      <p:sp>
        <p:nvSpPr>
          <p:cNvPr id="3" name="Content Placeholder 2"/>
          <p:cNvSpPr>
            <a:spLocks noGrp="1"/>
          </p:cNvSpPr>
          <p:nvPr>
            <p:ph idx="1"/>
          </p:nvPr>
        </p:nvSpPr>
        <p:spPr/>
        <p:txBody>
          <a:bodyPr/>
          <a:lstStyle/>
          <a:p>
            <a:r>
              <a:rPr lang="en-US" dirty="0" smtClean="0"/>
              <a:t>Lives within </a:t>
            </a:r>
            <a:r>
              <a:rPr lang="en-US" dirty="0" smtClean="0">
                <a:solidFill>
                  <a:schemeClr val="accent1"/>
                </a:solidFill>
              </a:rPr>
              <a:t>&lt;</a:t>
            </a:r>
            <a:r>
              <a:rPr lang="en-US" dirty="0" err="1" smtClean="0">
                <a:solidFill>
                  <a:schemeClr val="accent1"/>
                </a:solidFill>
              </a:rPr>
              <a:t>sourceDesc</a:t>
            </a:r>
            <a:r>
              <a:rPr lang="en-US" dirty="0" smtClean="0">
                <a:solidFill>
                  <a:schemeClr val="accent1"/>
                </a:solidFill>
              </a:rPr>
              <a:t>&gt;</a:t>
            </a:r>
          </a:p>
          <a:p>
            <a:r>
              <a:rPr lang="en-US" dirty="0"/>
              <a:t>6</a:t>
            </a:r>
            <a:r>
              <a:rPr lang="en-US" dirty="0" smtClean="0"/>
              <a:t> main structural elements</a:t>
            </a:r>
          </a:p>
          <a:p>
            <a:pPr lvl="1"/>
            <a:r>
              <a:rPr lang="en-US" dirty="0" smtClean="0">
                <a:solidFill>
                  <a:schemeClr val="accent1"/>
                </a:solidFill>
              </a:rPr>
              <a:t>&lt;</a:t>
            </a:r>
            <a:r>
              <a:rPr lang="en-US" dirty="0" err="1" smtClean="0">
                <a:solidFill>
                  <a:schemeClr val="accent1"/>
                </a:solidFill>
              </a:rPr>
              <a:t>msIdentifier</a:t>
            </a:r>
            <a:r>
              <a:rPr lang="en-US" dirty="0" smtClean="0">
                <a:solidFill>
                  <a:schemeClr val="accent1"/>
                </a:solidFill>
              </a:rPr>
              <a:t>&gt;</a:t>
            </a:r>
          </a:p>
          <a:p>
            <a:pPr lvl="1"/>
            <a:r>
              <a:rPr lang="en-US" dirty="0" smtClean="0">
                <a:solidFill>
                  <a:schemeClr val="accent1"/>
                </a:solidFill>
              </a:rPr>
              <a:t>&lt;head&gt;</a:t>
            </a:r>
          </a:p>
          <a:p>
            <a:pPr lvl="1"/>
            <a:r>
              <a:rPr lang="en-US" dirty="0" smtClean="0">
                <a:solidFill>
                  <a:schemeClr val="accent1"/>
                </a:solidFill>
              </a:rPr>
              <a:t>&lt;</a:t>
            </a:r>
            <a:r>
              <a:rPr lang="en-US" dirty="0" err="1" smtClean="0">
                <a:solidFill>
                  <a:schemeClr val="accent1"/>
                </a:solidFill>
              </a:rPr>
              <a:t>msContents</a:t>
            </a:r>
            <a:r>
              <a:rPr lang="en-US" dirty="0" smtClean="0">
                <a:solidFill>
                  <a:schemeClr val="accent1"/>
                </a:solidFill>
              </a:rPr>
              <a:t>&gt;</a:t>
            </a:r>
          </a:p>
          <a:p>
            <a:pPr lvl="1"/>
            <a:r>
              <a:rPr lang="en-US" dirty="0" smtClean="0">
                <a:solidFill>
                  <a:schemeClr val="accent1"/>
                </a:solidFill>
              </a:rPr>
              <a:t>&lt;</a:t>
            </a:r>
            <a:r>
              <a:rPr lang="en-US" dirty="0" err="1" smtClean="0">
                <a:solidFill>
                  <a:schemeClr val="accent1"/>
                </a:solidFill>
              </a:rPr>
              <a:t>physDesc</a:t>
            </a:r>
            <a:r>
              <a:rPr lang="en-US" dirty="0" smtClean="0">
                <a:solidFill>
                  <a:schemeClr val="accent1"/>
                </a:solidFill>
              </a:rPr>
              <a:t>&gt;</a:t>
            </a:r>
          </a:p>
          <a:p>
            <a:pPr lvl="1"/>
            <a:r>
              <a:rPr lang="en-US" dirty="0" smtClean="0">
                <a:solidFill>
                  <a:schemeClr val="accent1"/>
                </a:solidFill>
              </a:rPr>
              <a:t>&lt;history&gt;</a:t>
            </a:r>
          </a:p>
          <a:p>
            <a:pPr lvl="1"/>
            <a:r>
              <a:rPr lang="en-US" dirty="0" smtClean="0">
                <a:solidFill>
                  <a:schemeClr val="accent1"/>
                </a:solidFill>
              </a:rPr>
              <a:t>&lt;additional&gt;</a:t>
            </a:r>
          </a:p>
          <a:p>
            <a:r>
              <a:rPr lang="en-US" dirty="0" smtClean="0"/>
              <a:t>Only </a:t>
            </a:r>
            <a:r>
              <a:rPr lang="en-US" dirty="0" smtClean="0">
                <a:solidFill>
                  <a:schemeClr val="accent1"/>
                </a:solidFill>
              </a:rPr>
              <a:t>&lt;</a:t>
            </a:r>
            <a:r>
              <a:rPr lang="en-US" dirty="0" err="1" smtClean="0">
                <a:solidFill>
                  <a:schemeClr val="accent1"/>
                </a:solidFill>
              </a:rPr>
              <a:t>msIdentifier</a:t>
            </a:r>
            <a:r>
              <a:rPr lang="en-US" dirty="0" smtClean="0">
                <a:solidFill>
                  <a:schemeClr val="accent1"/>
                </a:solidFill>
              </a:rPr>
              <a:t>&gt;</a:t>
            </a:r>
            <a:r>
              <a:rPr lang="en-US" dirty="0" smtClean="0"/>
              <a:t> is compulsory</a:t>
            </a:r>
            <a:endParaRPr lang="en-US" dirty="0"/>
          </a:p>
        </p:txBody>
      </p:sp>
    </p:spTree>
    <p:extLst>
      <p:ext uri="{BB962C8B-B14F-4D97-AF65-F5344CB8AC3E}">
        <p14:creationId xmlns:p14="http://schemas.microsoft.com/office/powerpoint/2010/main" val="5257730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msDesc</a:t>
            </a:r>
            <a:r>
              <a:rPr lang="en-US" dirty="0" smtClean="0">
                <a:solidFill>
                  <a:schemeClr val="accent1"/>
                </a:solidFill>
              </a:rPr>
              <a:t>&gt;</a:t>
            </a:r>
            <a:r>
              <a:rPr lang="en-US" dirty="0" smtClean="0"/>
              <a:t> - the basics</a:t>
            </a:r>
            <a:endParaRPr lang="en-US" dirty="0"/>
          </a:p>
        </p:txBody>
      </p:sp>
      <p:sp>
        <p:nvSpPr>
          <p:cNvPr id="3" name="Content Placeholder 2"/>
          <p:cNvSpPr>
            <a:spLocks noGrp="1"/>
          </p:cNvSpPr>
          <p:nvPr>
            <p:ph idx="1"/>
          </p:nvPr>
        </p:nvSpPr>
        <p:spPr/>
        <p:txBody>
          <a:bodyPr numCol="2"/>
          <a:lstStyle/>
          <a:p>
            <a:r>
              <a:rPr lang="en-US" dirty="0" smtClean="0"/>
              <a:t>Additional phrase-level elements:</a:t>
            </a:r>
          </a:p>
          <a:p>
            <a:pPr lvl="1"/>
            <a:r>
              <a:rPr lang="en-US" dirty="0" smtClean="0">
                <a:solidFill>
                  <a:schemeClr val="accent1"/>
                </a:solidFill>
              </a:rPr>
              <a:t>&lt;catchwords&gt;</a:t>
            </a:r>
          </a:p>
          <a:p>
            <a:pPr lvl="1"/>
            <a:r>
              <a:rPr lang="en-US" dirty="0" smtClean="0">
                <a:solidFill>
                  <a:schemeClr val="accent1"/>
                </a:solidFill>
              </a:rPr>
              <a:t>&lt;dimensions&gt;</a:t>
            </a:r>
          </a:p>
          <a:p>
            <a:pPr lvl="1"/>
            <a:r>
              <a:rPr lang="en-US" dirty="0" smtClean="0">
                <a:solidFill>
                  <a:schemeClr val="accent1"/>
                </a:solidFill>
              </a:rPr>
              <a:t>&lt;heraldry&gt;</a:t>
            </a:r>
          </a:p>
          <a:p>
            <a:pPr lvl="1"/>
            <a:r>
              <a:rPr lang="en-US" dirty="0" smtClean="0">
                <a:solidFill>
                  <a:schemeClr val="accent1"/>
                </a:solidFill>
              </a:rPr>
              <a:t>&lt;locus&gt;</a:t>
            </a:r>
          </a:p>
          <a:p>
            <a:pPr lvl="1"/>
            <a:r>
              <a:rPr lang="en-US" dirty="0" smtClean="0">
                <a:solidFill>
                  <a:schemeClr val="accent1"/>
                </a:solidFill>
              </a:rPr>
              <a:t>&lt;</a:t>
            </a:r>
            <a:r>
              <a:rPr lang="en-US" dirty="0" err="1" smtClean="0">
                <a:solidFill>
                  <a:schemeClr val="accent1"/>
                </a:solidFill>
              </a:rPr>
              <a:t>locusGrp</a:t>
            </a:r>
            <a:r>
              <a:rPr lang="en-US" dirty="0" smtClean="0">
                <a:solidFill>
                  <a:schemeClr val="accent1"/>
                </a:solidFill>
              </a:rPr>
              <a:t>&gt;</a:t>
            </a:r>
          </a:p>
          <a:p>
            <a:pPr lvl="1"/>
            <a:r>
              <a:rPr lang="en-US" dirty="0" smtClean="0">
                <a:solidFill>
                  <a:schemeClr val="accent1"/>
                </a:solidFill>
              </a:rPr>
              <a:t>&lt;material&gt;</a:t>
            </a:r>
          </a:p>
          <a:p>
            <a:pPr lvl="1"/>
            <a:r>
              <a:rPr lang="en-US" dirty="0" smtClean="0">
                <a:solidFill>
                  <a:schemeClr val="accent1"/>
                </a:solidFill>
              </a:rPr>
              <a:t>&lt;watermark&gt;</a:t>
            </a:r>
          </a:p>
          <a:p>
            <a:pPr lvl="1"/>
            <a:r>
              <a:rPr lang="en-US" dirty="0" smtClean="0">
                <a:solidFill>
                  <a:schemeClr val="accent1"/>
                </a:solidFill>
              </a:rPr>
              <a:t>&lt;</a:t>
            </a:r>
            <a:r>
              <a:rPr lang="en-US" dirty="0" err="1" smtClean="0">
                <a:solidFill>
                  <a:schemeClr val="accent1"/>
                </a:solidFill>
              </a:rPr>
              <a:t>objectType</a:t>
            </a:r>
            <a:r>
              <a:rPr lang="en-US" dirty="0" smtClean="0">
                <a:solidFill>
                  <a:schemeClr val="accent1"/>
                </a:solidFill>
              </a:rPr>
              <a:t>&gt;</a:t>
            </a:r>
          </a:p>
          <a:p>
            <a:pPr lvl="1"/>
            <a:r>
              <a:rPr lang="en-US" dirty="0" smtClean="0">
                <a:solidFill>
                  <a:schemeClr val="accent1"/>
                </a:solidFill>
              </a:rPr>
              <a:t>&lt;</a:t>
            </a:r>
            <a:r>
              <a:rPr lang="en-US" dirty="0" err="1" smtClean="0">
                <a:solidFill>
                  <a:schemeClr val="accent1"/>
                </a:solidFill>
              </a:rPr>
              <a:t>origDate</a:t>
            </a:r>
            <a:r>
              <a:rPr lang="en-US" dirty="0" smtClean="0">
                <a:solidFill>
                  <a:schemeClr val="accent1"/>
                </a:solidFill>
              </a:rPr>
              <a:t>&gt;</a:t>
            </a:r>
          </a:p>
          <a:p>
            <a:pPr lvl="1"/>
            <a:endParaRPr lang="en-US" dirty="0">
              <a:solidFill>
                <a:schemeClr val="accent1"/>
              </a:solidFill>
            </a:endParaRPr>
          </a:p>
          <a:p>
            <a:pPr lvl="1"/>
            <a:r>
              <a:rPr lang="en-US" dirty="0" smtClean="0">
                <a:solidFill>
                  <a:schemeClr val="accent1"/>
                </a:solidFill>
              </a:rPr>
              <a:t>&lt;</a:t>
            </a:r>
            <a:r>
              <a:rPr lang="en-US" dirty="0" err="1" smtClean="0">
                <a:solidFill>
                  <a:schemeClr val="accent1"/>
                </a:solidFill>
              </a:rPr>
              <a:t>origPlace</a:t>
            </a:r>
            <a:r>
              <a:rPr lang="en-US" dirty="0" smtClean="0">
                <a:solidFill>
                  <a:schemeClr val="accent1"/>
                </a:solidFill>
              </a:rPr>
              <a:t>&gt;</a:t>
            </a:r>
          </a:p>
          <a:p>
            <a:pPr lvl="1"/>
            <a:r>
              <a:rPr lang="en-US" dirty="0" smtClean="0">
                <a:solidFill>
                  <a:schemeClr val="accent1"/>
                </a:solidFill>
              </a:rPr>
              <a:t>&lt;</a:t>
            </a:r>
            <a:r>
              <a:rPr lang="en-US" dirty="0" err="1" smtClean="0">
                <a:solidFill>
                  <a:schemeClr val="accent1"/>
                </a:solidFill>
              </a:rPr>
              <a:t>secFol</a:t>
            </a:r>
            <a:r>
              <a:rPr lang="en-US" dirty="0" smtClean="0">
                <a:solidFill>
                  <a:schemeClr val="accent1"/>
                </a:solidFill>
              </a:rPr>
              <a:t>&gt;</a:t>
            </a:r>
          </a:p>
          <a:p>
            <a:pPr lvl="1"/>
            <a:r>
              <a:rPr lang="en-US" dirty="0" smtClean="0">
                <a:solidFill>
                  <a:schemeClr val="accent1"/>
                </a:solidFill>
              </a:rPr>
              <a:t>&lt;signatures&gt; </a:t>
            </a:r>
          </a:p>
        </p:txBody>
      </p:sp>
    </p:spTree>
    <p:extLst>
      <p:ext uri="{BB962C8B-B14F-4D97-AF65-F5344CB8AC3E}">
        <p14:creationId xmlns:p14="http://schemas.microsoft.com/office/powerpoint/2010/main" val="19193340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Structural vs Phrase-level elements</a:t>
            </a:r>
            <a:endParaRPr lang="en-US" dirty="0"/>
          </a:p>
        </p:txBody>
      </p:sp>
      <p:sp>
        <p:nvSpPr>
          <p:cNvPr id="3" name="Content Placeholder 2"/>
          <p:cNvSpPr>
            <a:spLocks noGrp="1"/>
          </p:cNvSpPr>
          <p:nvPr>
            <p:ph idx="1"/>
          </p:nvPr>
        </p:nvSpPr>
        <p:spPr/>
        <p:txBody>
          <a:bodyPr>
            <a:normAutofit lnSpcReduction="10000"/>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physDesc</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	</a:t>
            </a:r>
            <a:r>
              <a:rPr lang="en-US" dirty="0">
                <a:solidFill>
                  <a:schemeClr val="accent1"/>
                </a:solidFill>
              </a:rPr>
              <a:t>&lt;</a:t>
            </a:r>
            <a:r>
              <a:rPr lang="en-US" dirty="0" err="1">
                <a:solidFill>
                  <a:schemeClr val="accent1"/>
                </a:solidFill>
              </a:rPr>
              <a:t>handDesc</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t>
            </a:r>
            <a:r>
              <a:rPr lang="en-US" dirty="0" err="1">
                <a:solidFill>
                  <a:schemeClr val="accent1"/>
                </a:solidFill>
              </a:rPr>
              <a:t>handNote</a:t>
            </a:r>
            <a:r>
              <a:rPr lang="en-US" dirty="0">
                <a:solidFill>
                  <a:schemeClr val="accent1"/>
                </a:solidFill>
              </a:rPr>
              <a:t> scope="major</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			</a:t>
            </a:r>
            <a:r>
              <a:rPr lang="en-US" dirty="0" smtClean="0">
                <a:solidFill>
                  <a:schemeClr val="accent6"/>
                </a:solidFill>
              </a:rPr>
              <a:t>&lt;p&gt;</a:t>
            </a:r>
            <a:r>
              <a:rPr lang="en-US" dirty="0" smtClean="0"/>
              <a:t>Written in </a:t>
            </a:r>
            <a:r>
              <a:rPr lang="en-US" dirty="0" smtClean="0">
                <a:solidFill>
                  <a:schemeClr val="accent6"/>
                </a:solidFill>
              </a:rPr>
              <a:t>&lt;</a:t>
            </a:r>
            <a:r>
              <a:rPr lang="en-US" dirty="0">
                <a:solidFill>
                  <a:schemeClr val="accent6"/>
                </a:solidFill>
              </a:rPr>
              <a:t>term&gt;</a:t>
            </a:r>
            <a:r>
              <a:rPr lang="en-US" dirty="0"/>
              <a:t>Gothic </a:t>
            </a:r>
            <a:r>
              <a:rPr lang="en-US" dirty="0" err="1"/>
              <a:t>textualis</a:t>
            </a:r>
            <a:r>
              <a:rPr lang="en-US" dirty="0">
                <a:solidFill>
                  <a:schemeClr val="accent6"/>
                </a:solidFill>
              </a:rPr>
              <a:t>&lt;/term</a:t>
            </a:r>
            <a:r>
              <a:rPr lang="en-US" dirty="0" smtClean="0">
                <a:solidFill>
                  <a:schemeClr val="accent6"/>
                </a:solidFill>
              </a:rPr>
              <a:t>&gt;&lt;/</a:t>
            </a:r>
            <a:r>
              <a:rPr lang="en-US" dirty="0">
                <a:solidFill>
                  <a:schemeClr val="accent6"/>
                </a:solidFill>
              </a:rPr>
              <a:t>p</a:t>
            </a:r>
            <a:r>
              <a:rPr lang="en-US" dirty="0" smtClean="0">
                <a:solidFill>
                  <a:schemeClr val="accent6"/>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t>	</a:t>
            </a:r>
            <a:r>
              <a:rPr lang="en-US" dirty="0" smtClean="0"/>
              <a:t>	</a:t>
            </a:r>
            <a:r>
              <a:rPr lang="en-US" dirty="0" smtClean="0">
                <a:solidFill>
                  <a:schemeClr val="accent1"/>
                </a:solidFill>
              </a:rPr>
              <a:t>&lt;/</a:t>
            </a:r>
            <a:r>
              <a:rPr lang="en-US" dirty="0" err="1">
                <a:solidFill>
                  <a:schemeClr val="accent1"/>
                </a:solidFill>
              </a:rPr>
              <a:t>handNote</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t>
            </a:r>
            <a:r>
              <a:rPr lang="en-US" dirty="0" err="1">
                <a:solidFill>
                  <a:schemeClr val="accent1"/>
                </a:solidFill>
              </a:rPr>
              <a:t>handDesc</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&lt;</a:t>
            </a:r>
            <a:r>
              <a:rPr lang="en-US" dirty="0" err="1">
                <a:solidFill>
                  <a:schemeClr val="accent1"/>
                </a:solidFill>
              </a:rPr>
              <a:t>bindingDesc</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t>	</a:t>
            </a:r>
            <a:r>
              <a:rPr lang="en-US" dirty="0" smtClean="0"/>
              <a:t>	</a:t>
            </a:r>
            <a:r>
              <a:rPr lang="en-US" dirty="0" smtClean="0">
                <a:solidFill>
                  <a:schemeClr val="accent6"/>
                </a:solidFill>
              </a:rPr>
              <a:t>&lt;p&gt;&lt;material&gt;</a:t>
            </a:r>
            <a:r>
              <a:rPr lang="en-US" dirty="0" smtClean="0"/>
              <a:t>Alum-</a:t>
            </a:r>
            <a:r>
              <a:rPr lang="en-US" dirty="0" err="1" smtClean="0"/>
              <a:t>tawed</a:t>
            </a:r>
            <a:r>
              <a:rPr lang="en-US" dirty="0" smtClean="0"/>
              <a:t> goatskin</a:t>
            </a:r>
            <a:r>
              <a:rPr lang="en-US" dirty="0" smtClean="0">
                <a:solidFill>
                  <a:schemeClr val="accent6"/>
                </a:solidFill>
              </a:rPr>
              <a:t>&lt;/material&gt;</a:t>
            </a:r>
            <a:r>
              <a:rPr lang="en-US" dirty="0" smtClean="0"/>
              <a:t> </a:t>
            </a:r>
            <a:r>
              <a:rPr lang="en-US" dirty="0"/>
              <a:t>dyed red with Brazil wood over oak boards sewn on four supports. </a:t>
            </a:r>
            <a:r>
              <a:rPr lang="en-US" dirty="0" smtClean="0">
                <a:solidFill>
                  <a:schemeClr val="accent6"/>
                </a:solidFill>
              </a:rPr>
              <a:t>&lt;/</a:t>
            </a:r>
            <a:r>
              <a:rPr lang="en-US" dirty="0">
                <a:solidFill>
                  <a:schemeClr val="accent6"/>
                </a:solidFill>
              </a:rPr>
              <a:t>p</a:t>
            </a:r>
            <a:r>
              <a:rPr lang="en-US" dirty="0" smtClean="0">
                <a:solidFill>
                  <a:schemeClr val="accent6"/>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t>	</a:t>
            </a:r>
            <a:r>
              <a:rPr lang="en-US" dirty="0" smtClean="0">
                <a:solidFill>
                  <a:schemeClr val="accent1"/>
                </a:solidFill>
              </a:rPr>
              <a:t>&lt;/</a:t>
            </a:r>
            <a:r>
              <a:rPr lang="en-US" dirty="0" err="1">
                <a:solidFill>
                  <a:schemeClr val="accent1"/>
                </a:solidFill>
              </a:rPr>
              <a:t>bindingDesc</a:t>
            </a:r>
            <a:r>
              <a:rPr lang="en-US" dirty="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physDesc</a:t>
            </a:r>
            <a:r>
              <a:rPr lang="en-US" dirty="0" smtClean="0">
                <a:solidFill>
                  <a:schemeClr val="accent1"/>
                </a:solidFill>
              </a:rPr>
              <a:t>&gt;</a:t>
            </a:r>
            <a:endParaRPr lang="en-US" dirty="0">
              <a:solidFill>
                <a:schemeClr val="accent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1997755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rgbClr val="FF0000"/>
                </a:solidFill>
              </a:rPr>
              <a:t>&lt;</a:t>
            </a:r>
            <a:r>
              <a:rPr lang="en-US" sz="3600" dirty="0" err="1">
                <a:solidFill>
                  <a:srgbClr val="FF0000"/>
                </a:solidFill>
              </a:rPr>
              <a:t>msIdentifier</a:t>
            </a:r>
            <a:r>
              <a:rPr lang="en-US" sz="3600" dirty="0">
                <a:solidFill>
                  <a:srgbClr val="FF0000"/>
                </a:solidFill>
              </a:rPr>
              <a:t>&gt;</a:t>
            </a:r>
          </a:p>
          <a:p>
            <a:pPr marL="457200" lvl="1" indent="0">
              <a:buNone/>
            </a:pPr>
            <a:r>
              <a:rPr lang="en-US" sz="3600" dirty="0">
                <a:solidFill>
                  <a:srgbClr val="0070C0"/>
                </a:solidFill>
              </a:rPr>
              <a:t>&lt;head&gt;</a:t>
            </a:r>
          </a:p>
          <a:p>
            <a:pPr marL="457200" lvl="1" indent="0">
              <a:buNone/>
            </a:pPr>
            <a:r>
              <a:rPr lang="en-US" sz="3600" dirty="0">
                <a:solidFill>
                  <a:srgbClr val="0070C0"/>
                </a:solidFill>
              </a:rPr>
              <a:t>&lt;</a:t>
            </a:r>
            <a:r>
              <a:rPr lang="en-US" sz="3600" dirty="0" err="1">
                <a:solidFill>
                  <a:srgbClr val="0070C0"/>
                </a:solidFill>
              </a:rPr>
              <a:t>msContents</a:t>
            </a:r>
            <a:r>
              <a:rPr lang="en-US" sz="3600" dirty="0">
                <a:solidFill>
                  <a:srgbClr val="0070C0"/>
                </a:solidFill>
              </a:rPr>
              <a:t>&gt;</a:t>
            </a:r>
          </a:p>
          <a:p>
            <a:pPr marL="457200" lvl="1" indent="0">
              <a:buNone/>
            </a:pPr>
            <a:r>
              <a:rPr lang="en-US" sz="3600" dirty="0">
                <a:solidFill>
                  <a:srgbClr val="0070C0"/>
                </a:solidFill>
              </a:rPr>
              <a:t>&lt;</a:t>
            </a:r>
            <a:r>
              <a:rPr lang="en-US" sz="3600" dirty="0" err="1">
                <a:solidFill>
                  <a:srgbClr val="0070C0"/>
                </a:solidFill>
              </a:rPr>
              <a:t>physDesc</a:t>
            </a:r>
            <a:r>
              <a:rPr lang="en-US" sz="3600" dirty="0">
                <a:solidFill>
                  <a:srgbClr val="0070C0"/>
                </a:solidFill>
              </a:rPr>
              <a:t>&gt;</a:t>
            </a:r>
          </a:p>
          <a:p>
            <a:pPr marL="457200" lvl="1" indent="0">
              <a:buNone/>
            </a:pPr>
            <a:r>
              <a:rPr lang="en-US" sz="3600" dirty="0">
                <a:solidFill>
                  <a:srgbClr val="0070C0"/>
                </a:solidFill>
              </a:rPr>
              <a:t>&lt;history&gt;</a:t>
            </a:r>
          </a:p>
          <a:p>
            <a:pPr marL="457200" lvl="1" indent="0">
              <a:buNone/>
            </a:pPr>
            <a:r>
              <a:rPr lang="en-US" sz="3600" dirty="0">
                <a:solidFill>
                  <a:srgbClr val="0070C0"/>
                </a:solidFill>
              </a:rPr>
              <a:t>&lt;additional</a:t>
            </a:r>
            <a:r>
              <a:rPr lang="en-US" sz="3600" dirty="0" smtClean="0">
                <a:solidFill>
                  <a:srgbClr val="0070C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7212317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msIdentifier</a:t>
            </a:r>
            <a:r>
              <a:rPr lang="en-US" dirty="0" smtClean="0">
                <a:solidFill>
                  <a:schemeClr val="accent1"/>
                </a:solidFill>
              </a:rPr>
              <a:t>&gt;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Uniquely identifying the manuscript</a:t>
            </a:r>
            <a:endParaRPr lang="en-US" dirty="0"/>
          </a:p>
        </p:txBody>
      </p:sp>
    </p:spTree>
    <p:extLst>
      <p:ext uri="{BB962C8B-B14F-4D97-AF65-F5344CB8AC3E}">
        <p14:creationId xmlns:p14="http://schemas.microsoft.com/office/powerpoint/2010/main" val="21233416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46049"/>
            <a:ext cx="10515600" cy="5730914"/>
          </a:xfrm>
        </p:spPr>
        <p:txBody>
          <a:bodyPr/>
          <a:lstStyle/>
          <a:p>
            <a:pPr marL="0" indent="0">
              <a:buNone/>
            </a:pPr>
            <a:r>
              <a:rPr lang="en-US" dirty="0">
                <a:solidFill>
                  <a:srgbClr val="0070C0"/>
                </a:solidFill>
              </a:rPr>
              <a:t>&lt;</a:t>
            </a:r>
            <a:r>
              <a:rPr lang="en-US" dirty="0" err="1">
                <a:solidFill>
                  <a:srgbClr val="0070C0"/>
                </a:solidFill>
              </a:rPr>
              <a:t>msIdentifier</a:t>
            </a:r>
            <a:r>
              <a:rPr lang="en-US" dirty="0">
                <a:solidFill>
                  <a:srgbClr val="0070C0"/>
                </a:solidFill>
              </a:rPr>
              <a:t>&gt;</a:t>
            </a:r>
          </a:p>
          <a:p>
            <a:pPr marL="0" indent="0">
              <a:buNone/>
            </a:pPr>
            <a:r>
              <a:rPr lang="en-US" dirty="0"/>
              <a:t>	</a:t>
            </a:r>
            <a:r>
              <a:rPr lang="en-US" dirty="0" smtClean="0">
                <a:solidFill>
                  <a:srgbClr val="0070C0"/>
                </a:solidFill>
              </a:rPr>
              <a:t>&lt;</a:t>
            </a:r>
            <a:r>
              <a:rPr lang="en-US" dirty="0">
                <a:solidFill>
                  <a:srgbClr val="0070C0"/>
                </a:solidFill>
              </a:rPr>
              <a:t>repository&gt;</a:t>
            </a:r>
            <a:r>
              <a:rPr lang="en-US" dirty="0"/>
              <a:t>Cambridge University Library</a:t>
            </a:r>
            <a:r>
              <a:rPr lang="en-US" dirty="0">
                <a:solidFill>
                  <a:srgbClr val="0070C0"/>
                </a:solidFill>
              </a:rPr>
              <a:t>&lt;/repository&gt;</a:t>
            </a:r>
          </a:p>
          <a:p>
            <a:pPr marL="0" indent="0">
              <a:buNone/>
            </a:pPr>
            <a:r>
              <a:rPr lang="en-US" dirty="0" smtClean="0"/>
              <a:t>	</a:t>
            </a:r>
            <a:r>
              <a:rPr lang="en-US" dirty="0" smtClean="0">
                <a:solidFill>
                  <a:srgbClr val="0070C0"/>
                </a:solidFill>
              </a:rPr>
              <a:t>&lt;</a:t>
            </a:r>
            <a:r>
              <a:rPr lang="en-US" dirty="0" err="1">
                <a:solidFill>
                  <a:srgbClr val="0070C0"/>
                </a:solidFill>
              </a:rPr>
              <a:t>idno</a:t>
            </a:r>
            <a:r>
              <a:rPr lang="en-US" dirty="0">
                <a:solidFill>
                  <a:srgbClr val="0070C0"/>
                </a:solidFill>
              </a:rPr>
              <a:t>&gt;</a:t>
            </a:r>
            <a:r>
              <a:rPr lang="en-US" dirty="0"/>
              <a:t>FH.910.83-98</a:t>
            </a:r>
            <a:r>
              <a:rPr lang="en-US" dirty="0">
                <a:solidFill>
                  <a:srgbClr val="0070C0"/>
                </a:solidFill>
              </a:rPr>
              <a:t>&lt;/</a:t>
            </a:r>
            <a:r>
              <a:rPr lang="en-US" dirty="0" err="1">
                <a:solidFill>
                  <a:srgbClr val="0070C0"/>
                </a:solidFill>
              </a:rPr>
              <a:t>idno</a:t>
            </a:r>
            <a:r>
              <a:rPr lang="en-US" dirty="0">
                <a:solidFill>
                  <a:srgbClr val="0070C0"/>
                </a:solidFill>
              </a:rPr>
              <a:t>&gt;</a:t>
            </a:r>
          </a:p>
          <a:p>
            <a:pPr marL="0" indent="0">
              <a:buNone/>
            </a:pPr>
            <a:r>
              <a:rPr lang="en-US" dirty="0">
                <a:solidFill>
                  <a:srgbClr val="0070C0"/>
                </a:solidFill>
              </a:rPr>
              <a:t>&lt;/</a:t>
            </a:r>
            <a:r>
              <a:rPr lang="en-US" dirty="0" err="1" smtClean="0">
                <a:solidFill>
                  <a:srgbClr val="0070C0"/>
                </a:solidFill>
              </a:rPr>
              <a:t>msIdentifier</a:t>
            </a:r>
            <a:r>
              <a:rPr lang="en-US" dirty="0" smtClean="0">
                <a:solidFill>
                  <a:srgbClr val="0070C0"/>
                </a:solidFill>
              </a:rPr>
              <a:t>&gt;</a:t>
            </a:r>
            <a:endParaRPr lang="en-US" dirty="0">
              <a:solidFill>
                <a:srgbClr val="0070C0"/>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smtClean="0"/>
          </a:p>
          <a:p>
            <a:pPr marL="0" marR="0" lvl="0" indent="0" defTabSz="914400" eaLnBrk="1" fontAlgn="auto" latinLnBrk="0" hangingPunct="1">
              <a:lnSpc>
                <a:spcPct val="100000"/>
              </a:lnSpc>
              <a:spcBef>
                <a:spcPts val="0"/>
              </a:spcBef>
              <a:spcAft>
                <a:spcPts val="0"/>
              </a:spcAft>
              <a:buClrTx/>
              <a:buSzTx/>
              <a:buFontTx/>
              <a:buNone/>
              <a:tabLst/>
              <a:defRPr/>
            </a:pPr>
            <a:endParaRPr lang="en-US" dirty="0"/>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t>The only compulsory element!</a:t>
            </a:r>
            <a:endParaRPr lang="en-US" dirty="0"/>
          </a:p>
        </p:txBody>
      </p:sp>
    </p:spTree>
    <p:extLst>
      <p:ext uri="{BB962C8B-B14F-4D97-AF65-F5344CB8AC3E}">
        <p14:creationId xmlns:p14="http://schemas.microsoft.com/office/powerpoint/2010/main" val="146006061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3595" y="721654"/>
            <a:ext cx="10515600" cy="5246660"/>
          </a:xfrm>
        </p:spPr>
        <p:txBody>
          <a:bodyPr>
            <a:normAutofit lnSpcReduction="10000"/>
          </a:bodyPr>
          <a:lstStyle/>
          <a:p>
            <a:pPr marL="0" indent="0">
              <a:buNone/>
            </a:pPr>
            <a:r>
              <a:rPr lang="en-US" dirty="0">
                <a:solidFill>
                  <a:srgbClr val="0070C0"/>
                </a:solidFill>
              </a:rPr>
              <a:t>&lt;</a:t>
            </a:r>
            <a:r>
              <a:rPr lang="en-US" dirty="0" err="1">
                <a:solidFill>
                  <a:srgbClr val="0070C0"/>
                </a:solidFill>
              </a:rPr>
              <a:t>msIdentifier</a:t>
            </a:r>
            <a:r>
              <a:rPr lang="en-US" dirty="0">
                <a:solidFill>
                  <a:srgbClr val="0070C0"/>
                </a:solidFill>
              </a:rPr>
              <a:t>&gt;</a:t>
            </a:r>
          </a:p>
          <a:p>
            <a:pPr marL="0" indent="0">
              <a:buNone/>
            </a:pPr>
            <a:r>
              <a:rPr lang="en-US" dirty="0" smtClean="0"/>
              <a:t>	</a:t>
            </a:r>
            <a:r>
              <a:rPr lang="en-US" dirty="0" smtClean="0">
                <a:solidFill>
                  <a:srgbClr val="0070C0"/>
                </a:solidFill>
              </a:rPr>
              <a:t>&lt;</a:t>
            </a:r>
            <a:r>
              <a:rPr lang="en-US" dirty="0">
                <a:solidFill>
                  <a:srgbClr val="0070C0"/>
                </a:solidFill>
              </a:rPr>
              <a:t>region type="county"&gt;</a:t>
            </a:r>
            <a:r>
              <a:rPr lang="en-US" dirty="0" err="1"/>
              <a:t>Cambridgeshire</a:t>
            </a:r>
            <a:r>
              <a:rPr lang="en-US" dirty="0">
                <a:solidFill>
                  <a:srgbClr val="0070C0"/>
                </a:solidFill>
              </a:rPr>
              <a:t>&lt;/region&gt;</a:t>
            </a:r>
          </a:p>
          <a:p>
            <a:pPr marL="0" indent="0">
              <a:buNone/>
            </a:pPr>
            <a:r>
              <a:rPr lang="en-US" dirty="0" smtClean="0"/>
              <a:t>	</a:t>
            </a:r>
            <a:r>
              <a:rPr lang="en-US" dirty="0" smtClean="0">
                <a:solidFill>
                  <a:srgbClr val="0070C0"/>
                </a:solidFill>
              </a:rPr>
              <a:t>&lt;</a:t>
            </a:r>
            <a:r>
              <a:rPr lang="en-US" dirty="0">
                <a:solidFill>
                  <a:srgbClr val="0070C0"/>
                </a:solidFill>
              </a:rPr>
              <a:t>institution&gt;</a:t>
            </a:r>
            <a:r>
              <a:rPr lang="en-US" dirty="0"/>
              <a:t>Cambridge University</a:t>
            </a:r>
            <a:r>
              <a:rPr lang="en-US" dirty="0">
                <a:solidFill>
                  <a:srgbClr val="0070C0"/>
                </a:solidFill>
              </a:rPr>
              <a:t>&lt;/institution&gt;</a:t>
            </a:r>
          </a:p>
          <a:p>
            <a:pPr marL="0" indent="0">
              <a:buNone/>
            </a:pPr>
            <a:r>
              <a:rPr lang="en-US" dirty="0" smtClean="0"/>
              <a:t>	</a:t>
            </a:r>
            <a:r>
              <a:rPr lang="en-US" dirty="0" smtClean="0">
                <a:solidFill>
                  <a:srgbClr val="0070C0"/>
                </a:solidFill>
              </a:rPr>
              <a:t>&lt;</a:t>
            </a:r>
            <a:r>
              <a:rPr lang="en-US" dirty="0">
                <a:solidFill>
                  <a:srgbClr val="0070C0"/>
                </a:solidFill>
              </a:rPr>
              <a:t>repository&gt;</a:t>
            </a:r>
            <a:r>
              <a:rPr lang="en-US" dirty="0"/>
              <a:t>Cambridge University Library</a:t>
            </a:r>
            <a:r>
              <a:rPr lang="en-US" dirty="0">
                <a:solidFill>
                  <a:srgbClr val="0070C0"/>
                </a:solidFill>
              </a:rPr>
              <a:t>&lt;/repository&gt;</a:t>
            </a:r>
          </a:p>
          <a:p>
            <a:pPr marL="0" indent="0">
              <a:buNone/>
            </a:pPr>
            <a:r>
              <a:rPr lang="en-US" dirty="0" smtClean="0"/>
              <a:t>	</a:t>
            </a:r>
            <a:r>
              <a:rPr lang="en-US" dirty="0" smtClean="0">
                <a:solidFill>
                  <a:srgbClr val="0070C0"/>
                </a:solidFill>
              </a:rPr>
              <a:t>&lt;</a:t>
            </a:r>
            <a:r>
              <a:rPr lang="en-US" dirty="0" err="1">
                <a:solidFill>
                  <a:srgbClr val="0070C0"/>
                </a:solidFill>
              </a:rPr>
              <a:t>idno</a:t>
            </a:r>
            <a:r>
              <a:rPr lang="en-US" dirty="0">
                <a:solidFill>
                  <a:srgbClr val="0070C0"/>
                </a:solidFill>
              </a:rPr>
              <a:t>&gt;</a:t>
            </a:r>
            <a:r>
              <a:rPr lang="en-US" dirty="0"/>
              <a:t>FH.910.83-98</a:t>
            </a:r>
            <a:r>
              <a:rPr lang="en-US" dirty="0">
                <a:solidFill>
                  <a:srgbClr val="0070C0"/>
                </a:solidFill>
              </a:rPr>
              <a:t>&lt;/</a:t>
            </a:r>
            <a:r>
              <a:rPr lang="en-US" dirty="0" err="1">
                <a:solidFill>
                  <a:srgbClr val="0070C0"/>
                </a:solidFill>
              </a:rPr>
              <a:t>idno</a:t>
            </a:r>
            <a:r>
              <a:rPr lang="en-US" dirty="0" smtClean="0">
                <a:solidFill>
                  <a:srgbClr val="0070C0"/>
                </a:solidFill>
              </a:rPr>
              <a:t>&gt;</a:t>
            </a:r>
          </a:p>
          <a:p>
            <a:pPr marL="0" indent="0">
              <a:buNone/>
            </a:pPr>
            <a:r>
              <a:rPr lang="en-US" dirty="0" smtClean="0"/>
              <a:t>	</a:t>
            </a:r>
            <a:r>
              <a:rPr lang="en-US" dirty="0" smtClean="0">
                <a:solidFill>
                  <a:srgbClr val="0070C0"/>
                </a:solidFill>
              </a:rPr>
              <a:t>&lt;</a:t>
            </a:r>
            <a:r>
              <a:rPr lang="en-US" dirty="0" err="1" smtClean="0">
                <a:solidFill>
                  <a:srgbClr val="0070C0"/>
                </a:solidFill>
              </a:rPr>
              <a:t>altIdentifier</a:t>
            </a:r>
            <a:r>
              <a:rPr lang="en-US" dirty="0" smtClean="0">
                <a:solidFill>
                  <a:srgbClr val="0070C0"/>
                </a:solidFill>
              </a:rPr>
              <a:t> type=“previous”&gt;</a:t>
            </a:r>
          </a:p>
          <a:p>
            <a:pPr marL="0" indent="0">
              <a:buNone/>
            </a:pPr>
            <a:r>
              <a:rPr lang="en-US" dirty="0" smtClean="0">
                <a:solidFill>
                  <a:srgbClr val="0070C0"/>
                </a:solidFill>
              </a:rPr>
              <a:t>		&lt;</a:t>
            </a:r>
            <a:r>
              <a:rPr lang="en-US" dirty="0" err="1" smtClean="0">
                <a:solidFill>
                  <a:srgbClr val="0070C0"/>
                </a:solidFill>
              </a:rPr>
              <a:t>idno</a:t>
            </a:r>
            <a:r>
              <a:rPr lang="en-US" dirty="0" smtClean="0">
                <a:solidFill>
                  <a:srgbClr val="0070C0"/>
                </a:solidFill>
              </a:rPr>
              <a:t>&gt;</a:t>
            </a:r>
            <a:r>
              <a:rPr lang="en-US" dirty="0" smtClean="0"/>
              <a:t>MS Add.2565</a:t>
            </a:r>
            <a:r>
              <a:rPr lang="en-US" dirty="0" smtClean="0">
                <a:solidFill>
                  <a:srgbClr val="0070C0"/>
                </a:solidFill>
              </a:rPr>
              <a:t>&lt;/</a:t>
            </a:r>
            <a:r>
              <a:rPr lang="en-US" dirty="0" err="1" smtClean="0">
                <a:solidFill>
                  <a:srgbClr val="0070C0"/>
                </a:solidFill>
              </a:rPr>
              <a:t>idno</a:t>
            </a:r>
            <a:r>
              <a:rPr lang="en-US" dirty="0" smtClean="0">
                <a:solidFill>
                  <a:srgbClr val="0070C0"/>
                </a:solidFill>
              </a:rPr>
              <a:t>&gt;</a:t>
            </a:r>
          </a:p>
          <a:p>
            <a:pPr marL="0" indent="0">
              <a:buNone/>
            </a:pPr>
            <a:r>
              <a:rPr lang="en-US" dirty="0" smtClean="0">
                <a:solidFill>
                  <a:srgbClr val="0070C0"/>
                </a:solidFill>
              </a:rPr>
              <a:t>	&lt;/</a:t>
            </a:r>
            <a:r>
              <a:rPr lang="en-US" dirty="0" err="1" smtClean="0">
                <a:solidFill>
                  <a:srgbClr val="0070C0"/>
                </a:solidFill>
              </a:rPr>
              <a:t>altIdentifier</a:t>
            </a:r>
            <a:r>
              <a:rPr lang="en-US" dirty="0" smtClean="0">
                <a:solidFill>
                  <a:srgbClr val="0070C0"/>
                </a:solidFill>
              </a:rPr>
              <a:t>&gt;</a:t>
            </a:r>
            <a:endParaRPr lang="en-US" dirty="0">
              <a:solidFill>
                <a:srgbClr val="0070C0"/>
              </a:solidFill>
            </a:endParaRPr>
          </a:p>
          <a:p>
            <a:pPr marL="0" indent="0">
              <a:buNone/>
            </a:pPr>
            <a:r>
              <a:rPr lang="en-US" dirty="0">
                <a:solidFill>
                  <a:srgbClr val="0070C0"/>
                </a:solidFill>
              </a:rPr>
              <a:t>&lt;/</a:t>
            </a:r>
            <a:r>
              <a:rPr lang="en-US" dirty="0" err="1" smtClean="0">
                <a:solidFill>
                  <a:srgbClr val="0070C0"/>
                </a:solidFill>
              </a:rPr>
              <a:t>msIdentifier</a:t>
            </a:r>
            <a:r>
              <a:rPr lang="en-US" dirty="0" smtClean="0">
                <a:solidFill>
                  <a:srgbClr val="0070C0"/>
                </a:solidFill>
              </a:rPr>
              <a:t>&gt;</a:t>
            </a:r>
          </a:p>
          <a:p>
            <a:pPr marL="0" indent="0">
              <a:buNone/>
            </a:pPr>
            <a:r>
              <a:rPr lang="en-US" dirty="0" smtClean="0"/>
              <a:t>NB. When identifying the manuscript, expect the record to be used outside your own systems</a:t>
            </a: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4574806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Isaac Newton, Trinity College Notebook</a:t>
            </a:r>
          </a:p>
          <a:p>
            <a:r>
              <a:rPr lang="en-US" dirty="0">
                <a:hlinkClick r:id="rId2"/>
              </a:rPr>
              <a:t>https://</a:t>
            </a:r>
            <a:r>
              <a:rPr lang="en-US" dirty="0" smtClean="0">
                <a:hlinkClick r:id="rId2"/>
              </a:rPr>
              <a:t>cudl.lib.cam.ac.uk/view/MS-ADD-03996/3</a:t>
            </a:r>
            <a:endParaRPr lang="en-US" dirty="0" smtClean="0"/>
          </a:p>
          <a:p>
            <a:r>
              <a:rPr lang="en-US" dirty="0" smtClean="0"/>
              <a:t>Moore Psalter</a:t>
            </a:r>
          </a:p>
          <a:p>
            <a:r>
              <a:rPr lang="en-US" dirty="0">
                <a:hlinkClick r:id="rId3"/>
              </a:rPr>
              <a:t>https://</a:t>
            </a:r>
            <a:r>
              <a:rPr lang="en-US" dirty="0" err="1">
                <a:hlinkClick r:id="rId3"/>
              </a:rPr>
              <a:t>cudl.lib.cam.ac.uk</a:t>
            </a:r>
            <a:r>
              <a:rPr lang="en-US" dirty="0">
                <a:hlinkClick r:id="rId3"/>
              </a:rPr>
              <a:t>/view/MS-EE-00004-00024/3</a:t>
            </a:r>
            <a:endParaRPr lang="en-US" dirty="0"/>
          </a:p>
        </p:txBody>
      </p:sp>
    </p:spTree>
    <p:extLst>
      <p:ext uri="{BB962C8B-B14F-4D97-AF65-F5344CB8AC3E}">
        <p14:creationId xmlns:p14="http://schemas.microsoft.com/office/powerpoint/2010/main" val="8013147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chemeClr val="accent1"/>
                </a:solidFill>
              </a:rPr>
              <a:t>&lt;</a:t>
            </a:r>
            <a:r>
              <a:rPr lang="en-US" sz="3600" dirty="0" err="1">
                <a:solidFill>
                  <a:schemeClr val="accent1"/>
                </a:solidFill>
              </a:rPr>
              <a:t>msIdentifier</a:t>
            </a:r>
            <a:r>
              <a:rPr lang="en-US" sz="3600" dirty="0">
                <a:solidFill>
                  <a:schemeClr val="accent1"/>
                </a:solidFill>
              </a:rPr>
              <a:t>&gt;</a:t>
            </a:r>
          </a:p>
          <a:p>
            <a:pPr marL="457200" lvl="1" indent="0">
              <a:buNone/>
            </a:pPr>
            <a:r>
              <a:rPr lang="en-US" sz="3600" dirty="0">
                <a:solidFill>
                  <a:srgbClr val="FF0000"/>
                </a:solidFill>
              </a:rPr>
              <a:t>&lt;head&gt;</a:t>
            </a:r>
          </a:p>
          <a:p>
            <a:pPr marL="457200" lvl="1" indent="0">
              <a:buNone/>
            </a:pPr>
            <a:r>
              <a:rPr lang="en-US" sz="3600" dirty="0">
                <a:solidFill>
                  <a:srgbClr val="0070C0"/>
                </a:solidFill>
              </a:rPr>
              <a:t>&lt;</a:t>
            </a:r>
            <a:r>
              <a:rPr lang="en-US" sz="3600" dirty="0" err="1">
                <a:solidFill>
                  <a:srgbClr val="0070C0"/>
                </a:solidFill>
              </a:rPr>
              <a:t>msContents</a:t>
            </a:r>
            <a:r>
              <a:rPr lang="en-US" sz="3600" dirty="0">
                <a:solidFill>
                  <a:srgbClr val="0070C0"/>
                </a:solidFill>
              </a:rPr>
              <a:t>&gt;</a:t>
            </a:r>
          </a:p>
          <a:p>
            <a:pPr marL="457200" lvl="1" indent="0">
              <a:buNone/>
            </a:pPr>
            <a:r>
              <a:rPr lang="en-US" sz="3600" dirty="0">
                <a:solidFill>
                  <a:srgbClr val="0070C0"/>
                </a:solidFill>
              </a:rPr>
              <a:t>&lt;</a:t>
            </a:r>
            <a:r>
              <a:rPr lang="en-US" sz="3600" dirty="0" err="1">
                <a:solidFill>
                  <a:srgbClr val="0070C0"/>
                </a:solidFill>
              </a:rPr>
              <a:t>physDesc</a:t>
            </a:r>
            <a:r>
              <a:rPr lang="en-US" sz="3600" dirty="0">
                <a:solidFill>
                  <a:srgbClr val="0070C0"/>
                </a:solidFill>
              </a:rPr>
              <a:t>&gt;</a:t>
            </a:r>
          </a:p>
          <a:p>
            <a:pPr marL="457200" lvl="1" indent="0">
              <a:buNone/>
            </a:pPr>
            <a:r>
              <a:rPr lang="en-US" sz="3600" dirty="0">
                <a:solidFill>
                  <a:srgbClr val="0070C0"/>
                </a:solidFill>
              </a:rPr>
              <a:t>&lt;history&gt;</a:t>
            </a:r>
          </a:p>
          <a:p>
            <a:pPr marL="457200" lvl="1" indent="0">
              <a:buNone/>
            </a:pPr>
            <a:r>
              <a:rPr lang="en-US" sz="3600" dirty="0">
                <a:solidFill>
                  <a:srgbClr val="0070C0"/>
                </a:solidFill>
              </a:rPr>
              <a:t>&lt;additional</a:t>
            </a:r>
            <a:r>
              <a:rPr lang="en-US" sz="3600" dirty="0" smtClean="0">
                <a:solidFill>
                  <a:srgbClr val="0070C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16297625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&lt;head&gt;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General heading information for the manuscript as a whole, e.g. overall title etc.</a:t>
            </a:r>
            <a:endParaRPr lang="en-US" dirty="0"/>
          </a:p>
        </p:txBody>
      </p:sp>
    </p:spTree>
    <p:extLst>
      <p:ext uri="{BB962C8B-B14F-4D97-AF65-F5344CB8AC3E}">
        <p14:creationId xmlns:p14="http://schemas.microsoft.com/office/powerpoint/2010/main" val="20697377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3378"/>
            <a:ext cx="10515600" cy="5713585"/>
          </a:xfrm>
        </p:spPr>
        <p:txBody>
          <a:bodyPr/>
          <a:lstStyle/>
          <a:p>
            <a:pPr marL="0" indent="0">
              <a:buNone/>
            </a:pPr>
            <a:r>
              <a:rPr lang="en-US" dirty="0" smtClean="0">
                <a:solidFill>
                  <a:schemeClr val="accent1"/>
                </a:solidFill>
              </a:rPr>
              <a:t>&lt;head&gt;</a:t>
            </a:r>
          </a:p>
          <a:p>
            <a:pPr marL="0" indent="0">
              <a:buNone/>
            </a:pPr>
            <a:r>
              <a:rPr lang="en-US" dirty="0" smtClean="0">
                <a:solidFill>
                  <a:schemeClr val="accent1"/>
                </a:solidFill>
              </a:rPr>
              <a:t>	&lt;title&gt;</a:t>
            </a:r>
            <a:r>
              <a:rPr lang="en-US" dirty="0"/>
              <a:t>The Breviary of Marie de Saint </a:t>
            </a:r>
            <a:r>
              <a:rPr lang="en-US" dirty="0" smtClean="0"/>
              <a:t>Pol</a:t>
            </a:r>
            <a:r>
              <a:rPr lang="en-US" dirty="0" smtClean="0">
                <a:solidFill>
                  <a:schemeClr val="accent1"/>
                </a:solidFill>
              </a:rPr>
              <a:t>&lt;/title&gt;</a:t>
            </a:r>
          </a:p>
          <a:p>
            <a:pPr marL="0" indent="0">
              <a:buNone/>
            </a:pPr>
            <a:r>
              <a:rPr lang="en-US" dirty="0" smtClean="0">
                <a:solidFill>
                  <a:schemeClr val="accent1"/>
                </a:solidFill>
              </a:rPr>
              <a:t>&lt;/head&gt;</a:t>
            </a:r>
          </a:p>
          <a:p>
            <a:pPr marL="0" indent="0">
              <a:buNone/>
            </a:pPr>
            <a:endParaRPr lang="en-US" dirty="0">
              <a:solidFill>
                <a:schemeClr val="accent1"/>
              </a:solidFill>
            </a:endParaRPr>
          </a:p>
          <a:p>
            <a:pPr marL="0" indent="0">
              <a:buNone/>
            </a:pPr>
            <a:r>
              <a:rPr lang="en-US" dirty="0" smtClean="0"/>
              <a:t>NB. Useful for general titles of composite manuscripts</a:t>
            </a:r>
          </a:p>
        </p:txBody>
      </p:sp>
    </p:spTree>
    <p:extLst>
      <p:ext uri="{BB962C8B-B14F-4D97-AF65-F5344CB8AC3E}">
        <p14:creationId xmlns:p14="http://schemas.microsoft.com/office/powerpoint/2010/main" val="6189028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chemeClr val="accent1"/>
                </a:solidFill>
              </a:rPr>
              <a:t>&lt;</a:t>
            </a:r>
            <a:r>
              <a:rPr lang="en-US" sz="3600" dirty="0" err="1">
                <a:solidFill>
                  <a:schemeClr val="accent1"/>
                </a:solidFill>
              </a:rPr>
              <a:t>msIdentifier</a:t>
            </a:r>
            <a:r>
              <a:rPr lang="en-US" sz="3600" dirty="0">
                <a:solidFill>
                  <a:schemeClr val="accent1"/>
                </a:solidFill>
              </a:rPr>
              <a:t>&gt;</a:t>
            </a:r>
          </a:p>
          <a:p>
            <a:pPr marL="457200" lvl="1" indent="0">
              <a:buNone/>
            </a:pPr>
            <a:r>
              <a:rPr lang="en-US" sz="3600" dirty="0">
                <a:solidFill>
                  <a:schemeClr val="accent1"/>
                </a:solidFill>
              </a:rPr>
              <a:t>&lt;head&gt;</a:t>
            </a:r>
          </a:p>
          <a:p>
            <a:pPr marL="457200" lvl="1" indent="0">
              <a:buNone/>
            </a:pPr>
            <a:r>
              <a:rPr lang="en-US" sz="3600" dirty="0">
                <a:solidFill>
                  <a:srgbClr val="FF0000"/>
                </a:solidFill>
              </a:rPr>
              <a:t>&lt;</a:t>
            </a:r>
            <a:r>
              <a:rPr lang="en-US" sz="3600" dirty="0" err="1">
                <a:solidFill>
                  <a:srgbClr val="FF0000"/>
                </a:solidFill>
              </a:rPr>
              <a:t>msContents</a:t>
            </a:r>
            <a:r>
              <a:rPr lang="en-US" sz="3600" dirty="0">
                <a:solidFill>
                  <a:srgbClr val="FF0000"/>
                </a:solidFill>
              </a:rPr>
              <a:t>&gt;</a:t>
            </a:r>
          </a:p>
          <a:p>
            <a:pPr marL="457200" lvl="1" indent="0">
              <a:buNone/>
            </a:pPr>
            <a:r>
              <a:rPr lang="en-US" sz="3600" dirty="0">
                <a:solidFill>
                  <a:srgbClr val="0070C0"/>
                </a:solidFill>
              </a:rPr>
              <a:t>&lt;</a:t>
            </a:r>
            <a:r>
              <a:rPr lang="en-US" sz="3600" dirty="0" err="1">
                <a:solidFill>
                  <a:srgbClr val="0070C0"/>
                </a:solidFill>
              </a:rPr>
              <a:t>physDesc</a:t>
            </a:r>
            <a:r>
              <a:rPr lang="en-US" sz="3600" dirty="0">
                <a:solidFill>
                  <a:srgbClr val="0070C0"/>
                </a:solidFill>
              </a:rPr>
              <a:t>&gt;</a:t>
            </a:r>
          </a:p>
          <a:p>
            <a:pPr marL="457200" lvl="1" indent="0">
              <a:buNone/>
            </a:pPr>
            <a:r>
              <a:rPr lang="en-US" sz="3600" dirty="0">
                <a:solidFill>
                  <a:srgbClr val="0070C0"/>
                </a:solidFill>
              </a:rPr>
              <a:t>&lt;history&gt;</a:t>
            </a:r>
          </a:p>
          <a:p>
            <a:pPr marL="457200" lvl="1" indent="0">
              <a:buNone/>
            </a:pPr>
            <a:r>
              <a:rPr lang="en-US" sz="3600" dirty="0">
                <a:solidFill>
                  <a:srgbClr val="0070C0"/>
                </a:solidFill>
              </a:rPr>
              <a:t>&lt;additional</a:t>
            </a:r>
            <a:r>
              <a:rPr lang="en-US" sz="3600" dirty="0" smtClean="0">
                <a:solidFill>
                  <a:srgbClr val="0070C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641827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msContents</a:t>
            </a:r>
            <a:r>
              <a:rPr lang="en-US" dirty="0" smtClean="0">
                <a:solidFill>
                  <a:schemeClr val="accent1"/>
                </a:solidFill>
              </a:rPr>
              <a:t>&gt;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The intellectual content of the manuscript</a:t>
            </a:r>
          </a:p>
          <a:p>
            <a:r>
              <a:rPr lang="en-US" dirty="0" smtClean="0"/>
              <a:t>Textual stuff</a:t>
            </a:r>
          </a:p>
          <a:p>
            <a:r>
              <a:rPr lang="en-US" dirty="0" smtClean="0"/>
              <a:t>Where titles, rubrics, incipits, authors, editors go</a:t>
            </a:r>
            <a:endParaRPr lang="en-US" dirty="0"/>
          </a:p>
        </p:txBody>
      </p:sp>
    </p:spTree>
    <p:extLst>
      <p:ext uri="{BB962C8B-B14F-4D97-AF65-F5344CB8AC3E}">
        <p14:creationId xmlns:p14="http://schemas.microsoft.com/office/powerpoint/2010/main" val="150483102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12956"/>
            <a:ext cx="10515600" cy="5664007"/>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msContents</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&lt;summary&gt;</a:t>
            </a:r>
          </a:p>
          <a:p>
            <a:pPr marL="0" marR="0" lvl="0" indent="0" defTabSz="914400" eaLnBrk="1" fontAlgn="auto" latinLnBrk="0" hangingPunct="1">
              <a:lnSpc>
                <a:spcPct val="100000"/>
              </a:lnSpc>
              <a:spcBef>
                <a:spcPts val="0"/>
              </a:spcBef>
              <a:spcAft>
                <a:spcPts val="0"/>
              </a:spcAft>
              <a:buClrTx/>
              <a:buSzTx/>
              <a:buFontTx/>
              <a:buNone/>
              <a:tabLst/>
              <a:defRPr/>
            </a:pPr>
            <a:r>
              <a:rPr lang="en-US" dirty="0"/>
              <a:t>	</a:t>
            </a:r>
            <a:r>
              <a:rPr lang="en-US" dirty="0" smtClean="0"/>
              <a:t>	</a:t>
            </a:r>
            <a:r>
              <a:rPr lang="en-US" dirty="0" smtClean="0">
                <a:solidFill>
                  <a:srgbClr val="00B050"/>
                </a:solidFill>
              </a:rPr>
              <a:t>&lt;!--prose description of the whole </a:t>
            </a:r>
            <a:r>
              <a:rPr lang="en-US" dirty="0" err="1" smtClean="0">
                <a:solidFill>
                  <a:srgbClr val="00B050"/>
                </a:solidFill>
              </a:rPr>
              <a:t>ms</a:t>
            </a:r>
            <a:r>
              <a:rPr lang="en-US" dirty="0" smtClean="0">
                <a:solidFill>
                  <a:srgbClr val="00B050"/>
                </a:solidFill>
                <a:sym typeface="Wingdings"/>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ym typeface="Wingdings"/>
              </a:rPr>
              <a:t>	</a:t>
            </a:r>
            <a:r>
              <a:rPr lang="en-US" dirty="0" smtClean="0">
                <a:solidFill>
                  <a:schemeClr val="accent1"/>
                </a:solidFill>
              </a:rPr>
              <a:t>&lt;/summary&gt;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t>
            </a:r>
            <a:r>
              <a:rPr lang="en-US" dirty="0" err="1" smtClean="0">
                <a:solidFill>
                  <a:schemeClr val="accent1"/>
                </a:solidFill>
              </a:rPr>
              <a:t>msItem</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rgbClr val="00B050"/>
                </a:solidFill>
              </a:rPr>
              <a:t>	&lt;!-- the whole manuscript--&gt;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p>
            <a:pPr marL="0" indent="0">
              <a:lnSpc>
                <a:spcPct val="100000"/>
              </a:lnSpc>
              <a:spcBef>
                <a:spcPts val="0"/>
              </a:spcBef>
              <a:buNone/>
            </a:pPr>
            <a:r>
              <a:rPr lang="en-US" dirty="0">
                <a:solidFill>
                  <a:srgbClr val="00B050"/>
                </a:solidFill>
              </a:rPr>
              <a:t>		&lt;!--the </a:t>
            </a:r>
            <a:r>
              <a:rPr lang="en-US" dirty="0" smtClean="0">
                <a:solidFill>
                  <a:srgbClr val="00B050"/>
                </a:solidFill>
              </a:rPr>
              <a:t>contents of the manuscript (if present)--&gt;</a:t>
            </a:r>
          </a:p>
          <a:p>
            <a:pPr marL="0" marR="0" lvl="0" indent="0" defTabSz="914400" eaLnBrk="1" fontAlgn="auto" latinLnBrk="0" hangingPunct="1">
              <a:lnSpc>
                <a:spcPct val="100000"/>
              </a:lnSpc>
              <a:spcBef>
                <a:spcPts val="0"/>
              </a:spcBef>
              <a:spcAft>
                <a:spcPts val="0"/>
              </a:spcAft>
              <a:buClrTx/>
              <a:buSzTx/>
              <a:buFontTx/>
              <a:buNone/>
              <a:tabLst/>
              <a:defRPr/>
            </a:pPr>
            <a:r>
              <a:rPr lang="en-US" dirty="0"/>
              <a:t>	</a:t>
            </a:r>
            <a:r>
              <a:rPr lang="en-US" dirty="0" smtClean="0"/>
              <a:t>	</a:t>
            </a:r>
            <a:r>
              <a:rPr lang="en-US" dirty="0" smtClean="0">
                <a:solidFill>
                  <a:schemeClr val="accent1"/>
                </a:solidFill>
              </a:rPr>
              <a:t>&lt;</a:t>
            </a:r>
            <a:r>
              <a:rPr lang="en-US" dirty="0" err="1">
                <a:solidFill>
                  <a:schemeClr val="accent1"/>
                </a:solidFill>
              </a:rPr>
              <a:t>msItem</a:t>
            </a:r>
            <a:r>
              <a:rPr lang="en-US" dirty="0">
                <a:solidFill>
                  <a:schemeClr val="accent1"/>
                </a:solidFill>
              </a:rPr>
              <a:t>&gt;&lt;/</a:t>
            </a:r>
            <a:r>
              <a:rPr lang="en-US" dirty="0" err="1">
                <a:solidFill>
                  <a:schemeClr val="accent1"/>
                </a:solidFill>
              </a:rPr>
              <a:t>msItem</a:t>
            </a:r>
            <a:r>
              <a:rPr lang="en-US" dirty="0">
                <a:solidFill>
                  <a:schemeClr val="accent1"/>
                </a:solidFill>
              </a:rPr>
              <a:t>&gt;</a:t>
            </a:r>
          </a:p>
          <a:p>
            <a:pPr marL="0" indent="0">
              <a:lnSpc>
                <a:spcPct val="100000"/>
              </a:lnSpc>
              <a:spcBef>
                <a:spcPts val="0"/>
              </a:spcBef>
              <a:buNone/>
            </a:pPr>
            <a:r>
              <a:rPr lang="en-US" dirty="0" smtClean="0">
                <a:solidFill>
                  <a:schemeClr val="accent1"/>
                </a:solidFill>
              </a:rPr>
              <a:t>	</a:t>
            </a:r>
            <a:r>
              <a:rPr lang="en-US" dirty="0">
                <a:solidFill>
                  <a:schemeClr val="accent1"/>
                </a:solidFill>
              </a:rPr>
              <a:t>	&lt;</a:t>
            </a:r>
            <a:r>
              <a:rPr lang="en-US" dirty="0" err="1">
                <a:solidFill>
                  <a:schemeClr val="accent1"/>
                </a:solidFill>
              </a:rPr>
              <a:t>msItem</a:t>
            </a:r>
            <a:r>
              <a:rPr lang="en-US" dirty="0">
                <a:solidFill>
                  <a:schemeClr val="accent1"/>
                </a:solidFill>
              </a:rPr>
              <a:t>&gt;&lt;/</a:t>
            </a:r>
            <a:r>
              <a:rPr lang="en-US" dirty="0" err="1">
                <a:solidFill>
                  <a:schemeClr val="accent1"/>
                </a:solidFill>
              </a:rPr>
              <a:t>msItem</a:t>
            </a:r>
            <a:r>
              <a:rPr lang="en-US" dirty="0">
                <a:solidFill>
                  <a:schemeClr val="accent1"/>
                </a:solidFill>
              </a:rPr>
              <a:t>&gt;</a:t>
            </a:r>
          </a:p>
          <a:p>
            <a:pPr marL="0" indent="0">
              <a:lnSpc>
                <a:spcPct val="100000"/>
              </a:lnSpc>
              <a:spcBef>
                <a:spcPts val="0"/>
              </a:spcBef>
              <a:buNone/>
            </a:pPr>
            <a:r>
              <a:rPr lang="en-US" dirty="0">
                <a:solidFill>
                  <a:schemeClr val="accent1"/>
                </a:solidFill>
              </a:rPr>
              <a:t>	</a:t>
            </a:r>
            <a:r>
              <a:rPr lang="en-US" dirty="0" smtClean="0">
                <a:solidFill>
                  <a:schemeClr val="accent1"/>
                </a:solidFill>
              </a:rPr>
              <a:t>	&lt;</a:t>
            </a:r>
            <a:r>
              <a:rPr lang="en-US" dirty="0" err="1">
                <a:solidFill>
                  <a:schemeClr val="accent1"/>
                </a:solidFill>
              </a:rPr>
              <a:t>msItem</a:t>
            </a:r>
            <a:r>
              <a:rPr lang="en-US" dirty="0">
                <a:solidFill>
                  <a:schemeClr val="accent1"/>
                </a:solidFill>
              </a:rPr>
              <a:t>&gt;&lt;/</a:t>
            </a:r>
            <a:r>
              <a:rPr lang="en-US" dirty="0" err="1">
                <a:solidFill>
                  <a:schemeClr val="accent1"/>
                </a:solidFill>
              </a:rPr>
              <a:t>msItem</a:t>
            </a:r>
            <a:r>
              <a:rPr lang="en-US" dirty="0" smtClean="0">
                <a:solidFill>
                  <a:schemeClr val="accent1"/>
                </a:solidFill>
              </a:rPr>
              <a:t>&gt;</a:t>
            </a:r>
          </a:p>
          <a:p>
            <a:pPr marL="0" lvl="0" indent="0">
              <a:lnSpc>
                <a:spcPct val="100000"/>
              </a:lnSpc>
              <a:spcBef>
                <a:spcPts val="0"/>
              </a:spcBef>
              <a:buNone/>
            </a:pPr>
            <a:r>
              <a:rPr lang="en-US" dirty="0">
                <a:solidFill>
                  <a:schemeClr val="accent1"/>
                </a:solidFill>
              </a:rPr>
              <a:t>	&lt;/</a:t>
            </a:r>
            <a:r>
              <a:rPr lang="en-US" dirty="0" err="1">
                <a:solidFill>
                  <a:schemeClr val="accent1"/>
                </a:solidFill>
              </a:rPr>
              <a:t>msItem</a:t>
            </a:r>
            <a:r>
              <a:rPr lang="en-US" dirty="0" smtClean="0">
                <a:solidFill>
                  <a:schemeClr val="accent1"/>
                </a:solidFill>
              </a:rPr>
              <a:t>&gt;</a:t>
            </a:r>
            <a:endParaRPr lang="en-US" dirty="0">
              <a:solidFill>
                <a:schemeClr val="accent1"/>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msContents</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9296998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595"/>
            <a:ext cx="10515600" cy="5775368"/>
          </a:xfrm>
        </p:spPr>
        <p:txBody>
          <a:bodyPr/>
          <a:lstStyle/>
          <a:p>
            <a:pPr marL="0" lvl="0" indent="0">
              <a:lnSpc>
                <a:spcPct val="100000"/>
              </a:lnSpc>
              <a:spcBef>
                <a:spcPts val="0"/>
              </a:spcBef>
              <a:buNone/>
            </a:pPr>
            <a:r>
              <a:rPr lang="en-US" dirty="0" smtClean="0">
                <a:solidFill>
                  <a:schemeClr val="accent1"/>
                </a:solidFill>
              </a:rPr>
              <a:t>&lt;summary&gt;</a:t>
            </a:r>
            <a:r>
              <a:rPr lang="en-US" dirty="0"/>
              <a:t>A fourteenth-century English </a:t>
            </a:r>
            <a:r>
              <a:rPr lang="en-US" dirty="0" smtClean="0">
                <a:solidFill>
                  <a:schemeClr val="accent1"/>
                </a:solidFill>
              </a:rPr>
              <a:t>&lt;hi rend=“italic”&gt;</a:t>
            </a:r>
            <a:r>
              <a:rPr lang="en-US" dirty="0" smtClean="0"/>
              <a:t>Book </a:t>
            </a:r>
            <a:r>
              <a:rPr lang="en-US" dirty="0"/>
              <a:t>of </a:t>
            </a:r>
            <a:r>
              <a:rPr lang="en-US" dirty="0" smtClean="0"/>
              <a:t>Hours</a:t>
            </a:r>
            <a:r>
              <a:rPr lang="en-US" dirty="0" smtClean="0">
                <a:solidFill>
                  <a:schemeClr val="accent1"/>
                </a:solidFill>
              </a:rPr>
              <a:t>&lt;/hi&gt;</a:t>
            </a:r>
            <a:r>
              <a:rPr lang="en-US" dirty="0" smtClean="0"/>
              <a:t>, </a:t>
            </a:r>
            <a:r>
              <a:rPr lang="en-US" dirty="0"/>
              <a:t>according to the </a:t>
            </a:r>
            <a:r>
              <a:rPr lang="en-US" dirty="0" err="1"/>
              <a:t>Sarum</a:t>
            </a:r>
            <a:r>
              <a:rPr lang="en-US" dirty="0"/>
              <a:t> Rite, stunningly illustrated with several full-page saints' portraits opening the work and the main text accompanied by a dazzling flurry of borders, marginalia and initials. Some saints' names featuring in the calendar with which the book opens suggest that it may have been originally produced according to practice local to the East Midlands, perhaps Lincoln, but the additions made to the calendar very early on in its life locate it firmly in East Anglia, and particularly, perhaps, around Ely and Huntingdon. The names of owners, Alice de </a:t>
            </a:r>
            <a:r>
              <a:rPr lang="en-US" dirty="0" err="1"/>
              <a:t>Reydon</a:t>
            </a:r>
            <a:r>
              <a:rPr lang="en-US" dirty="0"/>
              <a:t>, and John and Matilda </a:t>
            </a:r>
            <a:r>
              <a:rPr lang="en-US" dirty="0" err="1"/>
              <a:t>Stranle</a:t>
            </a:r>
            <a:r>
              <a:rPr lang="en-US" dirty="0"/>
              <a:t>, with their birth and death dates added alongside those saints, tell a story of continual spiritual practice and personal devotion as it passed from hand to hand</a:t>
            </a:r>
            <a:r>
              <a:rPr lang="en-US" dirty="0" smtClean="0"/>
              <a:t>.</a:t>
            </a:r>
            <a:r>
              <a:rPr lang="en-US" dirty="0" smtClean="0">
                <a:solidFill>
                  <a:schemeClr val="accent1"/>
                </a:solidFill>
              </a:rPr>
              <a:t>&lt;/summary&gt;</a:t>
            </a:r>
            <a:endParaRPr lang="en-US" dirty="0">
              <a:solidFill>
                <a:schemeClr val="accent1"/>
              </a:solidFill>
            </a:endParaRPr>
          </a:p>
        </p:txBody>
      </p:sp>
    </p:spTree>
    <p:extLst>
      <p:ext uri="{BB962C8B-B14F-4D97-AF65-F5344CB8AC3E}">
        <p14:creationId xmlns:p14="http://schemas.microsoft.com/office/powerpoint/2010/main" val="4326489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msItem</a:t>
            </a:r>
            <a:r>
              <a:rPr lang="en-US" dirty="0" smtClean="0">
                <a:solidFill>
                  <a:schemeClr val="accent1"/>
                </a:solidFill>
              </a:rPr>
              <a:t>&gt;</a:t>
            </a:r>
            <a:endParaRPr lang="en-US" dirty="0">
              <a:solidFill>
                <a:schemeClr val="accent1"/>
              </a:solidFill>
            </a:endParaRPr>
          </a:p>
        </p:txBody>
      </p:sp>
      <p:sp>
        <p:nvSpPr>
          <p:cNvPr id="3" name="Content Placeholder 2"/>
          <p:cNvSpPr>
            <a:spLocks noGrp="1"/>
          </p:cNvSpPr>
          <p:nvPr>
            <p:ph idx="1"/>
          </p:nvPr>
        </p:nvSpPr>
        <p:spPr/>
        <p:txBody>
          <a:bodyPr>
            <a:normAutofit fontScale="62500" lnSpcReduction="20000"/>
          </a:bodyPr>
          <a:lstStyle/>
          <a:p>
            <a:pPr marL="0" indent="0">
              <a:buNone/>
            </a:pPr>
            <a:r>
              <a:rPr lang="en-US" dirty="0" smtClean="0">
                <a:solidFill>
                  <a:schemeClr val="accent1"/>
                </a:solidFill>
              </a:rPr>
              <a:t>&lt;</a:t>
            </a:r>
            <a:r>
              <a:rPr lang="en-US" dirty="0" err="1" smtClean="0">
                <a:solidFill>
                  <a:schemeClr val="accent1"/>
                </a:solidFill>
              </a:rPr>
              <a:t>msItem</a:t>
            </a:r>
            <a:r>
              <a:rPr lang="en-US" dirty="0" smtClean="0">
                <a:solidFill>
                  <a:schemeClr val="accent1"/>
                </a:solidFill>
              </a:rPr>
              <a:t>&gt;</a:t>
            </a:r>
          </a:p>
          <a:p>
            <a:pPr marL="0" indent="0">
              <a:buNone/>
            </a:pPr>
            <a:r>
              <a:rPr lang="en-US" dirty="0" smtClean="0">
                <a:solidFill>
                  <a:schemeClr val="accent1"/>
                </a:solidFill>
              </a:rPr>
              <a:t>	&lt;title&gt;</a:t>
            </a:r>
            <a:r>
              <a:rPr lang="en-US" dirty="0" smtClean="0"/>
              <a:t>Book </a:t>
            </a:r>
            <a:r>
              <a:rPr lang="en-US" dirty="0"/>
              <a:t>of Hours (</a:t>
            </a:r>
            <a:r>
              <a:rPr lang="en-US" dirty="0" err="1"/>
              <a:t>Sarum</a:t>
            </a:r>
            <a:r>
              <a:rPr lang="en-US" dirty="0"/>
              <a:t> Use)</a:t>
            </a:r>
            <a:r>
              <a:rPr lang="en-US" dirty="0">
                <a:solidFill>
                  <a:schemeClr val="accent1"/>
                </a:solidFill>
              </a:rPr>
              <a:t>&lt;/title&gt;</a:t>
            </a:r>
          </a:p>
          <a:p>
            <a:pPr marL="0" indent="0">
              <a:buNone/>
            </a:pPr>
            <a:r>
              <a:rPr lang="en-US" dirty="0" smtClean="0"/>
              <a:t>	</a:t>
            </a:r>
            <a:r>
              <a:rPr lang="en-US" dirty="0" smtClean="0">
                <a:solidFill>
                  <a:schemeClr val="accent1"/>
                </a:solidFill>
              </a:rPr>
              <a:t>&lt;</a:t>
            </a:r>
            <a:r>
              <a:rPr lang="en-US" dirty="0" err="1">
                <a:solidFill>
                  <a:schemeClr val="accent1"/>
                </a:solidFill>
              </a:rPr>
              <a:t>textLang</a:t>
            </a:r>
            <a:r>
              <a:rPr lang="en-US" dirty="0">
                <a:solidFill>
                  <a:schemeClr val="accent1"/>
                </a:solidFill>
              </a:rPr>
              <a:t> </a:t>
            </a:r>
            <a:r>
              <a:rPr lang="en-US" dirty="0" err="1">
                <a:solidFill>
                  <a:schemeClr val="accent1"/>
                </a:solidFill>
              </a:rPr>
              <a:t>mainLang</a:t>
            </a:r>
            <a:r>
              <a:rPr lang="en-US" dirty="0">
                <a:solidFill>
                  <a:schemeClr val="accent1"/>
                </a:solidFill>
              </a:rPr>
              <a:t>="</a:t>
            </a:r>
            <a:r>
              <a:rPr lang="en-US" dirty="0" err="1">
                <a:solidFill>
                  <a:schemeClr val="accent1"/>
                </a:solidFill>
              </a:rPr>
              <a:t>lat</a:t>
            </a:r>
            <a:r>
              <a:rPr lang="en-US" dirty="0">
                <a:solidFill>
                  <a:schemeClr val="accent1"/>
                </a:solidFill>
              </a:rPr>
              <a:t>"&gt;</a:t>
            </a:r>
            <a:r>
              <a:rPr lang="en-US" dirty="0"/>
              <a:t>Latin</a:t>
            </a:r>
            <a:r>
              <a:rPr lang="en-US" dirty="0">
                <a:solidFill>
                  <a:schemeClr val="accent1"/>
                </a:solidFill>
              </a:rPr>
              <a:t>&lt;/</a:t>
            </a:r>
            <a:r>
              <a:rPr lang="en-US" dirty="0" err="1">
                <a:solidFill>
                  <a:schemeClr val="accent1"/>
                </a:solidFill>
              </a:rPr>
              <a:t>textLang</a:t>
            </a:r>
            <a:r>
              <a:rPr lang="en-US" dirty="0">
                <a:solidFill>
                  <a:schemeClr val="accent1"/>
                </a:solidFill>
              </a:rPr>
              <a:t>&gt;</a:t>
            </a:r>
          </a:p>
          <a:p>
            <a:pPr marL="0" indent="0">
              <a:buNone/>
            </a:pPr>
            <a:r>
              <a:rPr lang="en-US" dirty="0" smtClean="0"/>
              <a:t>	</a:t>
            </a:r>
            <a:r>
              <a:rPr lang="en-US" dirty="0" smtClean="0">
                <a:solidFill>
                  <a:schemeClr val="accent1"/>
                </a:solidFill>
              </a:rPr>
              <a:t>&lt;</a:t>
            </a:r>
            <a:r>
              <a:rPr lang="en-US" dirty="0" err="1" smtClean="0">
                <a:solidFill>
                  <a:schemeClr val="accent1"/>
                </a:solidFill>
              </a:rPr>
              <a:t>msItem</a:t>
            </a:r>
            <a:r>
              <a:rPr lang="en-US" dirty="0" smtClean="0">
                <a:solidFill>
                  <a:schemeClr val="accent1"/>
                </a:solidFill>
              </a:rPr>
              <a:t>&gt;</a:t>
            </a:r>
            <a:endParaRPr lang="en-US" dirty="0">
              <a:solidFill>
                <a:schemeClr val="accent1"/>
              </a:solidFill>
            </a:endParaRPr>
          </a:p>
          <a:p>
            <a:pPr marL="914400" lvl="2" indent="0">
              <a:buNone/>
            </a:pPr>
            <a:r>
              <a:rPr lang="en-US" sz="2900" dirty="0" smtClean="0">
                <a:solidFill>
                  <a:schemeClr val="accent1"/>
                </a:solidFill>
              </a:rPr>
              <a:t>	&lt;</a:t>
            </a:r>
            <a:r>
              <a:rPr lang="en-US" sz="2900" dirty="0">
                <a:solidFill>
                  <a:schemeClr val="accent1"/>
                </a:solidFill>
              </a:rPr>
              <a:t>locus from="13r" to="18v"&gt;</a:t>
            </a:r>
            <a:r>
              <a:rPr lang="en-US" sz="2900" dirty="0"/>
              <a:t>13r-18v</a:t>
            </a:r>
            <a:r>
              <a:rPr lang="en-US" sz="2900" dirty="0">
                <a:solidFill>
                  <a:schemeClr val="accent1"/>
                </a:solidFill>
              </a:rPr>
              <a:t>&lt;/locus&gt;</a:t>
            </a:r>
          </a:p>
          <a:p>
            <a:pPr marL="914400" lvl="2" indent="0">
              <a:buNone/>
            </a:pPr>
            <a:r>
              <a:rPr lang="en-US" sz="2900" dirty="0" smtClean="0">
                <a:solidFill>
                  <a:schemeClr val="accent1"/>
                </a:solidFill>
              </a:rPr>
              <a:t>	&lt;title&gt;</a:t>
            </a:r>
            <a:r>
              <a:rPr lang="en-US" sz="2900" dirty="0" smtClean="0"/>
              <a:t>Calendar</a:t>
            </a:r>
            <a:r>
              <a:rPr lang="en-US" sz="2900" dirty="0">
                <a:solidFill>
                  <a:schemeClr val="accent1"/>
                </a:solidFill>
              </a:rPr>
              <a:t>&lt;/title&gt;</a:t>
            </a:r>
          </a:p>
          <a:p>
            <a:pPr marL="914400" lvl="2" indent="0">
              <a:buNone/>
            </a:pPr>
            <a:r>
              <a:rPr lang="en-US" sz="2900" dirty="0" smtClean="0">
                <a:solidFill>
                  <a:schemeClr val="accent1"/>
                </a:solidFill>
              </a:rPr>
              <a:t>	&lt;rubric&gt;</a:t>
            </a:r>
            <a:r>
              <a:rPr lang="en-US" sz="2900" dirty="0" err="1" smtClean="0"/>
              <a:t>Pridies</a:t>
            </a:r>
            <a:r>
              <a:rPr lang="en-US" sz="2900" dirty="0" smtClean="0">
                <a:solidFill>
                  <a:schemeClr val="accent1"/>
                </a:solidFill>
              </a:rPr>
              <a:t> </a:t>
            </a:r>
            <a:r>
              <a:rPr lang="en-US" sz="2900" dirty="0" err="1"/>
              <a:t>mensis</a:t>
            </a:r>
            <a:r>
              <a:rPr lang="en-US" sz="2900" dirty="0"/>
              <a:t> </a:t>
            </a:r>
            <a:r>
              <a:rPr lang="en-US" sz="2900" dirty="0" err="1"/>
              <a:t>autem</a:t>
            </a:r>
            <a:r>
              <a:rPr lang="en-US" sz="2900" dirty="0"/>
              <a:t> VII </a:t>
            </a:r>
            <a:r>
              <a:rPr lang="en-US" sz="2900" dirty="0" err="1"/>
              <a:t>truncat</a:t>
            </a:r>
            <a:r>
              <a:rPr lang="en-US" sz="2900" dirty="0"/>
              <a:t> </a:t>
            </a:r>
            <a:r>
              <a:rPr lang="en-US" sz="2900" dirty="0" err="1"/>
              <a:t>ut</a:t>
            </a:r>
            <a:r>
              <a:rPr lang="en-US" sz="2900" dirty="0"/>
              <a:t> </a:t>
            </a:r>
            <a:r>
              <a:rPr lang="en-US" sz="2900" dirty="0" err="1" smtClean="0"/>
              <a:t>ensis</a:t>
            </a:r>
            <a:r>
              <a:rPr lang="en-US" sz="2900" dirty="0" smtClean="0">
                <a:solidFill>
                  <a:schemeClr val="accent1"/>
                </a:solidFill>
              </a:rPr>
              <a:t>&lt;/</a:t>
            </a:r>
            <a:r>
              <a:rPr lang="en-US" sz="2900" dirty="0">
                <a:solidFill>
                  <a:schemeClr val="accent1"/>
                </a:solidFill>
              </a:rPr>
              <a:t>rubric&gt;</a:t>
            </a:r>
          </a:p>
          <a:p>
            <a:pPr marL="914400" lvl="2" indent="0">
              <a:buNone/>
            </a:pPr>
            <a:r>
              <a:rPr lang="en-US" sz="2900" dirty="0" smtClean="0">
                <a:solidFill>
                  <a:schemeClr val="accent1"/>
                </a:solidFill>
              </a:rPr>
              <a:t>	&lt;incipit&gt;</a:t>
            </a:r>
            <a:r>
              <a:rPr lang="en-US" sz="2900" dirty="0" err="1" smtClean="0"/>
              <a:t>Circumcisio</a:t>
            </a:r>
            <a:r>
              <a:rPr lang="en-US" sz="2900" dirty="0" smtClean="0"/>
              <a:t> Domini</a:t>
            </a:r>
            <a:r>
              <a:rPr lang="en-US" sz="2900" dirty="0" smtClean="0">
                <a:solidFill>
                  <a:schemeClr val="accent1"/>
                </a:solidFill>
              </a:rPr>
              <a:t>&lt;/</a:t>
            </a:r>
            <a:r>
              <a:rPr lang="en-US" sz="2900" dirty="0">
                <a:solidFill>
                  <a:schemeClr val="accent1"/>
                </a:solidFill>
              </a:rPr>
              <a:t>incipit&gt;</a:t>
            </a:r>
          </a:p>
          <a:p>
            <a:pPr marL="914400" lvl="2" indent="0">
              <a:buNone/>
            </a:pPr>
            <a:r>
              <a:rPr lang="en-US" sz="2900" dirty="0" smtClean="0">
                <a:solidFill>
                  <a:schemeClr val="accent1"/>
                </a:solidFill>
              </a:rPr>
              <a:t>	&lt;explicit&gt;</a:t>
            </a:r>
            <a:r>
              <a:rPr lang="en-US" sz="2900" dirty="0" smtClean="0"/>
              <a:t>Sancti </a:t>
            </a:r>
            <a:r>
              <a:rPr lang="en-US" sz="2900" dirty="0" err="1" smtClean="0"/>
              <a:t>Siluestri</a:t>
            </a:r>
            <a:r>
              <a:rPr lang="en-US" sz="2900" dirty="0" smtClean="0">
                <a:solidFill>
                  <a:schemeClr val="accent1"/>
                </a:solidFill>
              </a:rPr>
              <a:t>&lt;/</a:t>
            </a:r>
            <a:r>
              <a:rPr lang="en-US" sz="2900" dirty="0">
                <a:solidFill>
                  <a:schemeClr val="accent1"/>
                </a:solidFill>
              </a:rPr>
              <a:t>explicit&gt;</a:t>
            </a:r>
          </a:p>
          <a:p>
            <a:pPr marL="0" indent="0">
              <a:buNone/>
            </a:pPr>
            <a:r>
              <a:rPr lang="en-US" dirty="0" smtClean="0">
                <a:solidFill>
                  <a:schemeClr val="accent1"/>
                </a:solidFill>
              </a:rPr>
              <a:t>	&lt;/</a:t>
            </a:r>
            <a:r>
              <a:rPr lang="en-US" dirty="0" err="1">
                <a:solidFill>
                  <a:schemeClr val="accent1"/>
                </a:solidFill>
              </a:rPr>
              <a:t>msItem</a:t>
            </a:r>
            <a:r>
              <a:rPr lang="en-US" dirty="0">
                <a:solidFill>
                  <a:schemeClr val="accent1"/>
                </a:solidFill>
              </a:rPr>
              <a:t>&gt;</a:t>
            </a:r>
          </a:p>
          <a:p>
            <a:pPr marL="0" indent="0">
              <a:buNone/>
            </a:pPr>
            <a:r>
              <a:rPr lang="en-US" dirty="0" smtClean="0">
                <a:solidFill>
                  <a:schemeClr val="accent1"/>
                </a:solidFill>
              </a:rPr>
              <a:t>	&lt;</a:t>
            </a:r>
            <a:r>
              <a:rPr lang="en-US" dirty="0" err="1" smtClean="0">
                <a:solidFill>
                  <a:schemeClr val="accent1"/>
                </a:solidFill>
              </a:rPr>
              <a:t>msItem</a:t>
            </a:r>
            <a:r>
              <a:rPr lang="en-US" dirty="0" smtClean="0">
                <a:solidFill>
                  <a:schemeClr val="accent1"/>
                </a:solidFill>
              </a:rPr>
              <a:t>&gt;</a:t>
            </a:r>
          </a:p>
          <a:p>
            <a:pPr marL="0" indent="0">
              <a:buNone/>
            </a:pPr>
            <a:r>
              <a:rPr lang="en-US" dirty="0" smtClean="0">
                <a:solidFill>
                  <a:schemeClr val="accent6"/>
                </a:solidFill>
              </a:rPr>
              <a:t>	&lt;!-- second item in contents </a:t>
            </a:r>
            <a:r>
              <a:rPr lang="en-US" dirty="0" smtClean="0">
                <a:solidFill>
                  <a:schemeClr val="accent6"/>
                </a:solidFill>
                <a:sym typeface="Wingdings"/>
              </a:rPr>
              <a:t>--&gt;</a:t>
            </a:r>
            <a:endParaRPr lang="en-US" dirty="0">
              <a:solidFill>
                <a:schemeClr val="accent6"/>
              </a:solidFill>
            </a:endParaRPr>
          </a:p>
          <a:p>
            <a:pPr marL="0" indent="0">
              <a:buNone/>
            </a:pPr>
            <a:r>
              <a:rPr lang="en-US" dirty="0" smtClean="0"/>
              <a:t>	</a:t>
            </a:r>
            <a:r>
              <a:rPr lang="en-US" dirty="0" smtClean="0">
                <a:solidFill>
                  <a:schemeClr val="accent1"/>
                </a:solidFill>
              </a:rPr>
              <a:t>&lt;/</a:t>
            </a:r>
            <a:r>
              <a:rPr lang="en-US" dirty="0" err="1">
                <a:solidFill>
                  <a:schemeClr val="accent1"/>
                </a:solidFill>
              </a:rPr>
              <a:t>msItem</a:t>
            </a:r>
            <a:r>
              <a:rPr lang="en-US" dirty="0" smtClean="0">
                <a:solidFill>
                  <a:schemeClr val="accent1"/>
                </a:solidFill>
              </a:rPr>
              <a:t>&gt;</a:t>
            </a:r>
          </a:p>
          <a:p>
            <a:pPr marL="0" indent="0">
              <a:buNone/>
            </a:pPr>
            <a:r>
              <a:rPr lang="en-US" dirty="0">
                <a:solidFill>
                  <a:schemeClr val="accent1"/>
                </a:solidFill>
              </a:rPr>
              <a:t>&lt;/</a:t>
            </a:r>
            <a:r>
              <a:rPr lang="en-US" dirty="0" err="1">
                <a:solidFill>
                  <a:schemeClr val="accent1"/>
                </a:solidFill>
              </a:rPr>
              <a:t>msItem</a:t>
            </a:r>
            <a:r>
              <a:rPr lang="en-US" dirty="0">
                <a:solidFill>
                  <a:schemeClr val="accent1"/>
                </a:solidFill>
              </a:rPr>
              <a:t>&gt;</a:t>
            </a:r>
          </a:p>
          <a:p>
            <a:pPr marL="0" indent="0">
              <a:buNone/>
            </a:pPr>
            <a:endParaRPr lang="en-US" dirty="0"/>
          </a:p>
        </p:txBody>
      </p:sp>
    </p:spTree>
    <p:extLst>
      <p:ext uri="{BB962C8B-B14F-4D97-AF65-F5344CB8AC3E}">
        <p14:creationId xmlns:p14="http://schemas.microsoft.com/office/powerpoint/2010/main" val="13521460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Book of Hours (</a:t>
            </a:r>
            <a:r>
              <a:rPr lang="en-US" dirty="0" err="1" smtClean="0"/>
              <a:t>Sarum</a:t>
            </a:r>
            <a:r>
              <a:rPr lang="en-US" dirty="0" smtClean="0"/>
              <a:t> use)</a:t>
            </a:r>
          </a:p>
          <a:p>
            <a:r>
              <a:rPr lang="en-US" dirty="0">
                <a:hlinkClick r:id="rId2"/>
              </a:rPr>
              <a:t>https://</a:t>
            </a:r>
            <a:r>
              <a:rPr lang="en-US" dirty="0" smtClean="0">
                <a:hlinkClick r:id="rId2"/>
              </a:rPr>
              <a:t>cudl.lib.cam.ac.uk/view/MS-DD-00004-00017/12</a:t>
            </a:r>
            <a:endParaRPr lang="en-US" dirty="0" smtClean="0"/>
          </a:p>
          <a:p>
            <a:r>
              <a:rPr lang="en-US" dirty="0" smtClean="0"/>
              <a:t>Red Book of Thorney</a:t>
            </a:r>
          </a:p>
          <a:p>
            <a:r>
              <a:rPr lang="en-US" dirty="0">
                <a:solidFill>
                  <a:schemeClr val="accent1"/>
                </a:solidFill>
                <a:hlinkClick r:id="rId3"/>
              </a:rPr>
              <a:t>https://</a:t>
            </a:r>
            <a:r>
              <a:rPr lang="en-US" dirty="0" err="1">
                <a:solidFill>
                  <a:schemeClr val="accent1"/>
                </a:solidFill>
                <a:hlinkClick r:id="rId3"/>
              </a:rPr>
              <a:t>cudl.lib.cam.ac.uk</a:t>
            </a:r>
            <a:r>
              <a:rPr lang="en-US" dirty="0">
                <a:solidFill>
                  <a:schemeClr val="accent1"/>
                </a:solidFill>
                <a:hlinkClick r:id="rId3"/>
              </a:rPr>
              <a:t>/view/MS-ADD-03020/17</a:t>
            </a:r>
            <a:endParaRPr lang="en-US" dirty="0" smtClean="0">
              <a:solidFill>
                <a:schemeClr val="accent1"/>
              </a:solidFill>
            </a:endParaRPr>
          </a:p>
          <a:p>
            <a:endParaRPr lang="en-US" dirty="0"/>
          </a:p>
        </p:txBody>
      </p:sp>
    </p:spTree>
    <p:extLst>
      <p:ext uri="{BB962C8B-B14F-4D97-AF65-F5344CB8AC3E}">
        <p14:creationId xmlns:p14="http://schemas.microsoft.com/office/powerpoint/2010/main" val="190771090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chemeClr val="accent1"/>
                </a:solidFill>
              </a:rPr>
              <a:t>&lt;</a:t>
            </a:r>
            <a:r>
              <a:rPr lang="en-US" sz="3600" dirty="0" err="1">
                <a:solidFill>
                  <a:schemeClr val="accent1"/>
                </a:solidFill>
              </a:rPr>
              <a:t>msIdentifier</a:t>
            </a:r>
            <a:r>
              <a:rPr lang="en-US" sz="3600" dirty="0">
                <a:solidFill>
                  <a:schemeClr val="accent1"/>
                </a:solidFill>
              </a:rPr>
              <a:t>&gt;</a:t>
            </a:r>
          </a:p>
          <a:p>
            <a:pPr marL="457200" lvl="1" indent="0">
              <a:buNone/>
            </a:pPr>
            <a:r>
              <a:rPr lang="en-US" sz="3600" dirty="0">
                <a:solidFill>
                  <a:schemeClr val="accent1"/>
                </a:solidFill>
              </a:rPr>
              <a:t>&lt;head&gt;</a:t>
            </a:r>
          </a:p>
          <a:p>
            <a:pPr marL="457200" lvl="1" indent="0">
              <a:buNone/>
            </a:pPr>
            <a:r>
              <a:rPr lang="en-US" sz="3600" dirty="0">
                <a:solidFill>
                  <a:schemeClr val="accent1"/>
                </a:solidFill>
              </a:rPr>
              <a:t>&lt;</a:t>
            </a:r>
            <a:r>
              <a:rPr lang="en-US" sz="3600" dirty="0" err="1">
                <a:solidFill>
                  <a:schemeClr val="accent1"/>
                </a:solidFill>
              </a:rPr>
              <a:t>msContents</a:t>
            </a:r>
            <a:r>
              <a:rPr lang="en-US" sz="3600" dirty="0">
                <a:solidFill>
                  <a:schemeClr val="accent1"/>
                </a:solidFill>
              </a:rPr>
              <a:t>&gt;</a:t>
            </a:r>
          </a:p>
          <a:p>
            <a:pPr marL="457200" lvl="1" indent="0">
              <a:buNone/>
            </a:pPr>
            <a:r>
              <a:rPr lang="en-US" sz="3600" dirty="0">
                <a:solidFill>
                  <a:srgbClr val="FF0000"/>
                </a:solidFill>
              </a:rPr>
              <a:t>&lt;</a:t>
            </a:r>
            <a:r>
              <a:rPr lang="en-US" sz="3600" dirty="0" err="1">
                <a:solidFill>
                  <a:srgbClr val="FF0000"/>
                </a:solidFill>
              </a:rPr>
              <a:t>physDesc</a:t>
            </a:r>
            <a:r>
              <a:rPr lang="en-US" sz="3600" dirty="0">
                <a:solidFill>
                  <a:srgbClr val="FF0000"/>
                </a:solidFill>
              </a:rPr>
              <a:t>&gt;</a:t>
            </a:r>
          </a:p>
          <a:p>
            <a:pPr marL="457200" lvl="1" indent="0">
              <a:buNone/>
            </a:pPr>
            <a:r>
              <a:rPr lang="en-US" sz="3600" dirty="0">
                <a:solidFill>
                  <a:srgbClr val="0070C0"/>
                </a:solidFill>
              </a:rPr>
              <a:t>&lt;history&gt;</a:t>
            </a:r>
          </a:p>
          <a:p>
            <a:pPr marL="457200" lvl="1" indent="0">
              <a:buNone/>
            </a:pPr>
            <a:r>
              <a:rPr lang="en-US" sz="3600" dirty="0">
                <a:solidFill>
                  <a:srgbClr val="0070C0"/>
                </a:solidFill>
              </a:rPr>
              <a:t>&lt;additional</a:t>
            </a:r>
            <a:r>
              <a:rPr lang="en-US" sz="3600" dirty="0" smtClean="0">
                <a:solidFill>
                  <a:srgbClr val="0070C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13138470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t>
            </a:r>
            <a:r>
              <a:rPr lang="en-US" dirty="0" err="1" smtClean="0">
                <a:solidFill>
                  <a:schemeClr val="accent1"/>
                </a:solidFill>
              </a:rPr>
              <a:t>physDesc</a:t>
            </a:r>
            <a:r>
              <a:rPr lang="en-US" dirty="0" smtClean="0">
                <a:solidFill>
                  <a:schemeClr val="accent1"/>
                </a:solidFill>
              </a:rPr>
              <a:t>&gt;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Physical description of the manuscript - codicology</a:t>
            </a:r>
            <a:endParaRPr lang="en-US" dirty="0"/>
          </a:p>
        </p:txBody>
      </p:sp>
    </p:spTree>
    <p:extLst>
      <p:ext uri="{BB962C8B-B14F-4D97-AF65-F5344CB8AC3E}">
        <p14:creationId xmlns:p14="http://schemas.microsoft.com/office/powerpoint/2010/main" val="25538582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rgbClr val="FF0000"/>
                </a:solidFill>
              </a:rPr>
              <a:t>&lt;</a:t>
            </a:r>
            <a:r>
              <a:rPr lang="en-US" sz="3200" dirty="0" err="1" smtClean="0">
                <a:solidFill>
                  <a:srgbClr val="FF0000"/>
                </a:solidFill>
              </a:rPr>
              <a:t>objectDesc</a:t>
            </a:r>
            <a:r>
              <a:rPr lang="en-US" sz="3200" dirty="0" smtClean="0">
                <a:solidFill>
                  <a:srgbClr val="FF0000"/>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handDesc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decoDesc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bindingDesc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sealDesc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accMat</a:t>
            </a:r>
            <a:r>
              <a:rPr lang="en-US" sz="3200" dirty="0" smtClean="0">
                <a:solidFill>
                  <a:schemeClr val="accent1"/>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21175398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1444"/>
            <a:ext cx="10515600" cy="5775519"/>
          </a:xfrm>
        </p:spPr>
        <p:txBody>
          <a:bodyPr>
            <a:noAutofit/>
          </a:bodyPr>
          <a:lstStyle/>
          <a:p>
            <a:pPr marL="0" indent="0">
              <a:buNone/>
            </a:pPr>
            <a:r>
              <a:rPr lang="en-US" sz="1800" dirty="0">
                <a:solidFill>
                  <a:schemeClr val="accent1"/>
                </a:solidFill>
              </a:rPr>
              <a:t>&lt;</a:t>
            </a:r>
            <a:r>
              <a:rPr lang="en-US" sz="1800" dirty="0" err="1">
                <a:solidFill>
                  <a:schemeClr val="accent1"/>
                </a:solidFill>
              </a:rPr>
              <a:t>objectDesc</a:t>
            </a:r>
            <a:r>
              <a:rPr lang="en-US" sz="1800" dirty="0">
                <a:solidFill>
                  <a:schemeClr val="accent1"/>
                </a:solidFill>
              </a:rPr>
              <a:t> form="codex"&gt;</a:t>
            </a:r>
          </a:p>
          <a:p>
            <a:pPr marL="0" indent="0">
              <a:buNone/>
            </a:pPr>
            <a:r>
              <a:rPr lang="en-US" sz="1800" dirty="0" smtClean="0">
                <a:solidFill>
                  <a:schemeClr val="accent1"/>
                </a:solidFill>
              </a:rPr>
              <a:t>	&lt;</a:t>
            </a:r>
            <a:r>
              <a:rPr lang="en-US" sz="1800" dirty="0" err="1">
                <a:solidFill>
                  <a:schemeClr val="accent1"/>
                </a:solidFill>
              </a:rPr>
              <a:t>supportDesc</a:t>
            </a:r>
            <a:r>
              <a:rPr lang="en-US" sz="1800" dirty="0">
                <a:solidFill>
                  <a:schemeClr val="accent1"/>
                </a:solidFill>
              </a:rPr>
              <a:t> material="paper"&gt;</a:t>
            </a:r>
          </a:p>
          <a:p>
            <a:pPr marL="0" indent="0">
              <a:buNone/>
            </a:pPr>
            <a:r>
              <a:rPr lang="en-US" sz="1800" dirty="0" smtClean="0">
                <a:solidFill>
                  <a:schemeClr val="accent1"/>
                </a:solidFill>
              </a:rPr>
              <a:t>		&lt;</a:t>
            </a:r>
            <a:r>
              <a:rPr lang="en-US" sz="1800" dirty="0">
                <a:solidFill>
                  <a:schemeClr val="accent1"/>
                </a:solidFill>
              </a:rPr>
              <a:t>support&gt;</a:t>
            </a:r>
            <a:r>
              <a:rPr lang="en-US" sz="1800" dirty="0"/>
              <a:t>Paper</a:t>
            </a:r>
            <a:r>
              <a:rPr lang="en-US" sz="1800" dirty="0">
                <a:solidFill>
                  <a:schemeClr val="accent1"/>
                </a:solidFill>
              </a:rPr>
              <a:t>&lt;/support&gt;</a:t>
            </a:r>
          </a:p>
          <a:p>
            <a:pPr marL="0" indent="0">
              <a:buNone/>
            </a:pPr>
            <a:r>
              <a:rPr lang="en-US" sz="1800" dirty="0" smtClean="0">
                <a:solidFill>
                  <a:schemeClr val="accent1"/>
                </a:solidFill>
              </a:rPr>
              <a:t>		&lt;extent&gt;</a:t>
            </a:r>
            <a:r>
              <a:rPr lang="en-US" sz="1800" dirty="0" smtClean="0"/>
              <a:t>244 </a:t>
            </a:r>
            <a:r>
              <a:rPr lang="en-US" sz="1800" dirty="0"/>
              <a:t>ff</a:t>
            </a:r>
            <a:r>
              <a:rPr lang="en-US" sz="1800" dirty="0" smtClean="0"/>
              <a:t>.</a:t>
            </a:r>
          </a:p>
          <a:p>
            <a:pPr marL="914400" lvl="2" indent="0">
              <a:buNone/>
            </a:pPr>
            <a:r>
              <a:rPr lang="en-US" sz="1800" dirty="0" smtClean="0"/>
              <a:t>		</a:t>
            </a:r>
            <a:r>
              <a:rPr lang="en-US" sz="1800" dirty="0" smtClean="0">
                <a:solidFill>
                  <a:schemeClr val="accent1"/>
                </a:solidFill>
              </a:rPr>
              <a:t>&lt;</a:t>
            </a:r>
            <a:r>
              <a:rPr lang="en-US" sz="1800" dirty="0">
                <a:solidFill>
                  <a:schemeClr val="accent1"/>
                </a:solidFill>
              </a:rPr>
              <a:t>dimensions type="leaf" unit="cm"&gt;</a:t>
            </a:r>
          </a:p>
          <a:p>
            <a:pPr marL="1371600" lvl="3" indent="0">
              <a:buNone/>
            </a:pPr>
            <a:r>
              <a:rPr lang="en-US" dirty="0" smtClean="0">
                <a:solidFill>
                  <a:schemeClr val="accent1"/>
                </a:solidFill>
              </a:rPr>
              <a:t>			&lt;</a:t>
            </a:r>
            <a:r>
              <a:rPr lang="en-US" dirty="0">
                <a:solidFill>
                  <a:schemeClr val="accent1"/>
                </a:solidFill>
              </a:rPr>
              <a:t>height&gt;</a:t>
            </a:r>
            <a:r>
              <a:rPr lang="en-US" dirty="0"/>
              <a:t>35</a:t>
            </a:r>
            <a:r>
              <a:rPr lang="en-US" dirty="0">
                <a:solidFill>
                  <a:schemeClr val="accent1"/>
                </a:solidFill>
              </a:rPr>
              <a:t>&lt;/height&gt;</a:t>
            </a:r>
          </a:p>
          <a:p>
            <a:pPr marL="1371600" lvl="3" indent="0">
              <a:buNone/>
            </a:pPr>
            <a:r>
              <a:rPr lang="en-US" dirty="0" smtClean="0">
                <a:solidFill>
                  <a:schemeClr val="accent1"/>
                </a:solidFill>
              </a:rPr>
              <a:t>			&lt;</a:t>
            </a:r>
            <a:r>
              <a:rPr lang="en-US" dirty="0">
                <a:solidFill>
                  <a:schemeClr val="accent1"/>
                </a:solidFill>
              </a:rPr>
              <a:t>width&gt;</a:t>
            </a:r>
            <a:r>
              <a:rPr lang="en-US" dirty="0"/>
              <a:t>24</a:t>
            </a:r>
            <a:r>
              <a:rPr lang="en-US" dirty="0">
                <a:solidFill>
                  <a:schemeClr val="accent1"/>
                </a:solidFill>
              </a:rPr>
              <a:t>&lt;/width&gt;</a:t>
            </a:r>
          </a:p>
          <a:p>
            <a:pPr marL="914400" lvl="2" indent="0">
              <a:buNone/>
            </a:pPr>
            <a:r>
              <a:rPr lang="en-US" sz="1800" dirty="0" smtClean="0">
                <a:solidFill>
                  <a:schemeClr val="accent1"/>
                </a:solidFill>
              </a:rPr>
              <a:t>		&lt;/</a:t>
            </a:r>
            <a:r>
              <a:rPr lang="en-US" sz="1800" dirty="0">
                <a:solidFill>
                  <a:schemeClr val="accent1"/>
                </a:solidFill>
              </a:rPr>
              <a:t>dimensions&gt;</a:t>
            </a:r>
          </a:p>
          <a:p>
            <a:pPr marL="0" indent="0">
              <a:buNone/>
            </a:pPr>
            <a:r>
              <a:rPr lang="en-US" sz="1800" dirty="0" smtClean="0">
                <a:solidFill>
                  <a:schemeClr val="accent1"/>
                </a:solidFill>
              </a:rPr>
              <a:t>		&lt;/</a:t>
            </a:r>
            <a:r>
              <a:rPr lang="en-US" sz="1800" dirty="0">
                <a:solidFill>
                  <a:schemeClr val="accent1"/>
                </a:solidFill>
              </a:rPr>
              <a:t>extent&gt;</a:t>
            </a:r>
          </a:p>
          <a:p>
            <a:pPr marL="0" indent="0">
              <a:buNone/>
            </a:pPr>
            <a:r>
              <a:rPr lang="en-US" sz="1800" dirty="0" smtClean="0">
                <a:solidFill>
                  <a:schemeClr val="accent1"/>
                </a:solidFill>
              </a:rPr>
              <a:t>	&lt;/</a:t>
            </a:r>
            <a:r>
              <a:rPr lang="en-US" sz="1800" dirty="0" err="1">
                <a:solidFill>
                  <a:schemeClr val="accent1"/>
                </a:solidFill>
              </a:rPr>
              <a:t>supportDesc</a:t>
            </a:r>
            <a:r>
              <a:rPr lang="en-US" sz="1800" dirty="0">
                <a:solidFill>
                  <a:schemeClr val="accent1"/>
                </a:solidFill>
              </a:rPr>
              <a:t>&gt;</a:t>
            </a:r>
          </a:p>
          <a:p>
            <a:pPr marL="0" indent="0">
              <a:buNone/>
            </a:pPr>
            <a:r>
              <a:rPr lang="en-US" sz="1800" dirty="0" smtClean="0"/>
              <a:t>	</a:t>
            </a:r>
            <a:r>
              <a:rPr lang="en-US" sz="1800" dirty="0" smtClean="0">
                <a:solidFill>
                  <a:schemeClr val="accent1"/>
                </a:solidFill>
              </a:rPr>
              <a:t>&lt;</a:t>
            </a:r>
            <a:r>
              <a:rPr lang="en-US" sz="1800" dirty="0" err="1">
                <a:solidFill>
                  <a:schemeClr val="accent1"/>
                </a:solidFill>
              </a:rPr>
              <a:t>layoutDesc</a:t>
            </a:r>
            <a:r>
              <a:rPr lang="en-US" sz="1800" dirty="0">
                <a:solidFill>
                  <a:schemeClr val="accent1"/>
                </a:solidFill>
              </a:rPr>
              <a:t>&gt;</a:t>
            </a:r>
          </a:p>
          <a:p>
            <a:pPr marL="0" indent="0">
              <a:buNone/>
            </a:pPr>
            <a:r>
              <a:rPr lang="en-US" sz="1800" dirty="0" smtClean="0">
                <a:solidFill>
                  <a:schemeClr val="accent1"/>
                </a:solidFill>
              </a:rPr>
              <a:t>		&lt;</a:t>
            </a:r>
            <a:r>
              <a:rPr lang="en-US" sz="1800" dirty="0">
                <a:solidFill>
                  <a:schemeClr val="accent1"/>
                </a:solidFill>
              </a:rPr>
              <a:t>layout columns="1" </a:t>
            </a:r>
            <a:r>
              <a:rPr lang="en-US" sz="1800" dirty="0" err="1">
                <a:solidFill>
                  <a:schemeClr val="accent1"/>
                </a:solidFill>
              </a:rPr>
              <a:t>writtenLines</a:t>
            </a:r>
            <a:r>
              <a:rPr lang="en-US" sz="1800" dirty="0">
                <a:solidFill>
                  <a:schemeClr val="accent1"/>
                </a:solidFill>
              </a:rPr>
              <a:t>="17</a:t>
            </a:r>
            <a:r>
              <a:rPr lang="en-US" sz="1800" dirty="0" smtClean="0">
                <a:solidFill>
                  <a:schemeClr val="accent1"/>
                </a:solidFill>
              </a:rPr>
              <a:t>"&gt;</a:t>
            </a:r>
            <a:r>
              <a:rPr lang="en-US" sz="1800" dirty="0" smtClean="0"/>
              <a:t>17 </a:t>
            </a:r>
            <a:r>
              <a:rPr lang="en-US" sz="1800" dirty="0"/>
              <a:t>lines to the </a:t>
            </a:r>
            <a:r>
              <a:rPr lang="en-US" sz="1800" dirty="0" smtClean="0"/>
              <a:t>page</a:t>
            </a:r>
            <a:r>
              <a:rPr lang="en-US" sz="1800" dirty="0" smtClean="0">
                <a:solidFill>
                  <a:schemeClr val="accent1"/>
                </a:solidFill>
              </a:rPr>
              <a:t>&lt;/</a:t>
            </a:r>
            <a:r>
              <a:rPr lang="en-US" sz="1800" dirty="0">
                <a:solidFill>
                  <a:schemeClr val="accent1"/>
                </a:solidFill>
              </a:rPr>
              <a:t>layout&gt;</a:t>
            </a:r>
          </a:p>
          <a:p>
            <a:pPr marL="0" indent="0">
              <a:buNone/>
            </a:pPr>
            <a:r>
              <a:rPr lang="en-US" sz="1800" dirty="0" smtClean="0">
                <a:solidFill>
                  <a:schemeClr val="accent1"/>
                </a:solidFill>
              </a:rPr>
              <a:t>	&lt;/</a:t>
            </a:r>
            <a:r>
              <a:rPr lang="en-US" sz="1800" dirty="0" err="1">
                <a:solidFill>
                  <a:schemeClr val="accent1"/>
                </a:solidFill>
              </a:rPr>
              <a:t>layoutDesc</a:t>
            </a:r>
            <a:r>
              <a:rPr lang="en-US" sz="1800" dirty="0" smtClean="0">
                <a:solidFill>
                  <a:schemeClr val="accent1"/>
                </a:solidFill>
              </a:rPr>
              <a:t>&gt;</a:t>
            </a:r>
          </a:p>
          <a:p>
            <a:pPr marL="0" indent="0">
              <a:buNone/>
            </a:pPr>
            <a:r>
              <a:rPr lang="en-US" sz="1800" dirty="0">
                <a:solidFill>
                  <a:schemeClr val="accent1"/>
                </a:solidFill>
              </a:rPr>
              <a:t>	</a:t>
            </a:r>
            <a:r>
              <a:rPr lang="en-US" sz="1800" dirty="0" smtClean="0">
                <a:solidFill>
                  <a:schemeClr val="accent1"/>
                </a:solidFill>
              </a:rPr>
              <a:t>&lt;collation&gt;</a:t>
            </a:r>
            <a:r>
              <a:rPr lang="en-US" sz="1800" dirty="0" smtClean="0">
                <a:solidFill>
                  <a:schemeClr val="accent6"/>
                </a:solidFill>
              </a:rPr>
              <a:t>&lt;!-- see over </a:t>
            </a:r>
            <a:r>
              <a:rPr lang="en-US" sz="1800" dirty="0" smtClean="0">
                <a:solidFill>
                  <a:schemeClr val="accent6"/>
                </a:solidFill>
                <a:sym typeface="Wingdings"/>
              </a:rPr>
              <a:t>--&gt;</a:t>
            </a:r>
            <a:r>
              <a:rPr lang="en-US" sz="1800" dirty="0" smtClean="0">
                <a:solidFill>
                  <a:schemeClr val="accent1"/>
                </a:solidFill>
                <a:sym typeface="Wingdings"/>
              </a:rPr>
              <a:t>&lt;/collation&gt;</a:t>
            </a:r>
            <a:endParaRPr lang="en-US" sz="1800" dirty="0" smtClean="0">
              <a:solidFill>
                <a:schemeClr val="accent1"/>
              </a:solidFill>
            </a:endParaRPr>
          </a:p>
          <a:p>
            <a:pPr marL="0" indent="0">
              <a:buNone/>
            </a:pPr>
            <a:r>
              <a:rPr lang="en-US" sz="1800" dirty="0">
                <a:solidFill>
                  <a:schemeClr val="accent1"/>
                </a:solidFill>
              </a:rPr>
              <a:t>	</a:t>
            </a:r>
            <a:r>
              <a:rPr lang="en-US" sz="1800" dirty="0" smtClean="0">
                <a:solidFill>
                  <a:schemeClr val="accent1"/>
                </a:solidFill>
              </a:rPr>
              <a:t>&lt;foliation&gt;</a:t>
            </a:r>
            <a:r>
              <a:rPr lang="en-US" sz="1800" dirty="0" smtClean="0"/>
              <a:t>Foliated in the upper right corner of each recto in pencil</a:t>
            </a:r>
            <a:r>
              <a:rPr lang="en-US" sz="1800" dirty="0" smtClean="0">
                <a:solidFill>
                  <a:schemeClr val="accent1"/>
                </a:solidFill>
              </a:rPr>
              <a:t>&lt;/foliation&gt;</a:t>
            </a:r>
            <a:endParaRPr lang="en-US" sz="1800" dirty="0">
              <a:solidFill>
                <a:schemeClr val="accent1"/>
              </a:solidFill>
            </a:endParaRPr>
          </a:p>
          <a:p>
            <a:pPr marL="0" indent="0">
              <a:buNone/>
            </a:pPr>
            <a:r>
              <a:rPr lang="en-US" sz="1800" dirty="0">
                <a:solidFill>
                  <a:schemeClr val="accent1"/>
                </a:solidFill>
              </a:rPr>
              <a:t>&lt;/</a:t>
            </a:r>
            <a:r>
              <a:rPr lang="en-US" sz="1800" dirty="0" err="1">
                <a:solidFill>
                  <a:schemeClr val="accent1"/>
                </a:solidFill>
              </a:rPr>
              <a:t>objectDesc</a:t>
            </a:r>
            <a:r>
              <a:rPr lang="en-US" sz="1800" dirty="0">
                <a:solidFill>
                  <a:schemeClr val="accent1"/>
                </a:solidFill>
              </a:rPr>
              <a:t>&gt;</a:t>
            </a:r>
          </a:p>
          <a:p>
            <a:pPr marL="0" indent="0">
              <a:lnSpc>
                <a:spcPct val="100000"/>
              </a:lnSpc>
              <a:spcBef>
                <a:spcPts val="0"/>
              </a:spcBef>
              <a:buNone/>
            </a:pPr>
            <a:endParaRPr lang="en-US" sz="2000" dirty="0"/>
          </a:p>
        </p:txBody>
      </p:sp>
    </p:spTree>
    <p:extLst>
      <p:ext uri="{BB962C8B-B14F-4D97-AF65-F5344CB8AC3E}">
        <p14:creationId xmlns:p14="http://schemas.microsoft.com/office/powerpoint/2010/main" val="12174030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1022"/>
            <a:ext cx="10515600" cy="5725941"/>
          </a:xfrm>
        </p:spPr>
        <p:txBody>
          <a:bodyPr>
            <a:normAutofit fontScale="77500" lnSpcReduction="20000"/>
          </a:bodyPr>
          <a:lstStyle/>
          <a:p>
            <a:pPr marL="0" indent="0">
              <a:buNone/>
            </a:pPr>
            <a:r>
              <a:rPr lang="en-US" dirty="0">
                <a:solidFill>
                  <a:schemeClr val="accent1"/>
                </a:solidFill>
              </a:rPr>
              <a:t>&lt;collation&gt;</a:t>
            </a:r>
          </a:p>
          <a:p>
            <a:pPr marL="0" indent="0">
              <a:buNone/>
            </a:pPr>
            <a:r>
              <a:rPr lang="en-US" dirty="0" smtClean="0">
                <a:solidFill>
                  <a:schemeClr val="accent1"/>
                </a:solidFill>
              </a:rPr>
              <a:t>	&lt;p&gt;</a:t>
            </a:r>
            <a:r>
              <a:rPr lang="en-US" dirty="0" smtClean="0"/>
              <a:t>The </a:t>
            </a:r>
            <a:r>
              <a:rPr lang="en-US" dirty="0"/>
              <a:t>MS consists of 5 quires as follows</a:t>
            </a:r>
            <a:r>
              <a:rPr lang="en-US" dirty="0" smtClean="0"/>
              <a:t>:</a:t>
            </a:r>
          </a:p>
          <a:p>
            <a:pPr marL="0" indent="0">
              <a:buNone/>
            </a:pPr>
            <a:r>
              <a:rPr lang="en-US" dirty="0"/>
              <a:t>	</a:t>
            </a:r>
            <a:r>
              <a:rPr lang="en-US" dirty="0" smtClean="0"/>
              <a:t>	</a:t>
            </a:r>
            <a:r>
              <a:rPr lang="en-US" dirty="0" smtClean="0">
                <a:solidFill>
                  <a:schemeClr val="accent1"/>
                </a:solidFill>
              </a:rPr>
              <a:t>&lt;</a:t>
            </a:r>
            <a:r>
              <a:rPr lang="en-US" dirty="0">
                <a:solidFill>
                  <a:schemeClr val="accent1"/>
                </a:solidFill>
              </a:rPr>
              <a:t>list&gt;</a:t>
            </a:r>
          </a:p>
          <a:p>
            <a:pPr marL="0" indent="0">
              <a:buNone/>
            </a:pPr>
            <a:r>
              <a:rPr lang="en-US" dirty="0" smtClean="0">
                <a:solidFill>
                  <a:schemeClr val="accent1"/>
                </a:solidFill>
              </a:rPr>
              <a:t>			&lt;</a:t>
            </a:r>
            <a:r>
              <a:rPr lang="en-US" dirty="0">
                <a:solidFill>
                  <a:schemeClr val="accent1"/>
                </a:solidFill>
              </a:rPr>
              <a:t>item&gt;</a:t>
            </a:r>
            <a:r>
              <a:rPr lang="en-US" dirty="0"/>
              <a:t>4 modern paper flyleaves</a:t>
            </a:r>
            <a:r>
              <a:rPr lang="en-US" dirty="0">
                <a:solidFill>
                  <a:schemeClr val="accent1"/>
                </a:solidFill>
              </a:rPr>
              <a:t>&lt;/item&gt;</a:t>
            </a:r>
          </a:p>
          <a:p>
            <a:pPr marL="0" indent="0">
              <a:buNone/>
            </a:pPr>
            <a:r>
              <a:rPr lang="en-US" dirty="0" smtClean="0">
                <a:solidFill>
                  <a:schemeClr val="accent1"/>
                </a:solidFill>
              </a:rPr>
              <a:t>			&lt;item&gt;</a:t>
            </a:r>
            <a:r>
              <a:rPr lang="en-US" dirty="0" smtClean="0"/>
              <a:t>Quire </a:t>
            </a:r>
            <a:r>
              <a:rPr lang="en-US" dirty="0"/>
              <a:t>1</a:t>
            </a:r>
            <a:r>
              <a:rPr lang="en-US" dirty="0">
                <a:solidFill>
                  <a:schemeClr val="accent1"/>
                </a:solidFill>
              </a:rPr>
              <a:t>&lt;hi rend="superscript"&gt;</a:t>
            </a:r>
            <a:r>
              <a:rPr lang="en-US" dirty="0"/>
              <a:t>6</a:t>
            </a:r>
            <a:r>
              <a:rPr lang="en-US" dirty="0">
                <a:solidFill>
                  <a:schemeClr val="accent1"/>
                </a:solidFill>
              </a:rPr>
              <a:t>&lt;/hi</a:t>
            </a:r>
            <a:r>
              <a:rPr lang="en-US" dirty="0" smtClean="0">
                <a:solidFill>
                  <a:schemeClr val="accent1"/>
                </a:solidFill>
              </a:rPr>
              <a:t>&gt;</a:t>
            </a:r>
            <a:r>
              <a:rPr lang="en-US" dirty="0" smtClean="0"/>
              <a:t> (</a:t>
            </a:r>
            <a:r>
              <a:rPr lang="en-US" dirty="0" err="1"/>
              <a:t>fols</a:t>
            </a:r>
            <a:r>
              <a:rPr lang="en-US" dirty="0"/>
              <a:t>. 1-3 in the order 6, 2, 5; leaves 1, 3, and 4 are missing</a:t>
            </a:r>
            <a:r>
              <a:rPr lang="en-US" dirty="0" smtClean="0"/>
              <a:t>)</a:t>
            </a:r>
            <a:r>
              <a:rPr lang="en-US" dirty="0" smtClean="0">
                <a:solidFill>
                  <a:schemeClr val="accent1"/>
                </a:solidFill>
              </a:rPr>
              <a:t>&lt;/</a:t>
            </a:r>
            <a:r>
              <a:rPr lang="en-US" dirty="0">
                <a:solidFill>
                  <a:schemeClr val="accent1"/>
                </a:solidFill>
              </a:rPr>
              <a:t>item&gt;</a:t>
            </a:r>
          </a:p>
          <a:p>
            <a:pPr marL="0" indent="0">
              <a:buNone/>
            </a:pPr>
            <a:r>
              <a:rPr lang="en-US" dirty="0" smtClean="0">
                <a:solidFill>
                  <a:schemeClr val="accent1"/>
                </a:solidFill>
              </a:rPr>
              <a:t>			&lt;item&gt;</a:t>
            </a:r>
            <a:r>
              <a:rPr lang="en-US" dirty="0" smtClean="0"/>
              <a:t>Quire </a:t>
            </a:r>
            <a:r>
              <a:rPr lang="en-US" dirty="0"/>
              <a:t>2</a:t>
            </a:r>
            <a:r>
              <a:rPr lang="en-US" dirty="0">
                <a:solidFill>
                  <a:schemeClr val="accent1"/>
                </a:solidFill>
              </a:rPr>
              <a:t>&lt;hi rend="superscript"&gt;</a:t>
            </a:r>
            <a:r>
              <a:rPr lang="en-US" dirty="0"/>
              <a:t>2</a:t>
            </a:r>
            <a:r>
              <a:rPr lang="en-US" dirty="0">
                <a:solidFill>
                  <a:schemeClr val="accent1"/>
                </a:solidFill>
              </a:rPr>
              <a:t>&lt;/hi</a:t>
            </a:r>
            <a:r>
              <a:rPr lang="en-US" dirty="0" smtClean="0">
                <a:solidFill>
                  <a:schemeClr val="accent1"/>
                </a:solidFill>
              </a:rPr>
              <a:t>&gt;</a:t>
            </a:r>
            <a:r>
              <a:rPr lang="en-US" dirty="0" smtClean="0"/>
              <a:t> (</a:t>
            </a:r>
            <a:r>
              <a:rPr lang="en-US" dirty="0" err="1"/>
              <a:t>fols</a:t>
            </a:r>
            <a:r>
              <a:rPr lang="en-US" dirty="0"/>
              <a:t>. 4-5</a:t>
            </a:r>
            <a:r>
              <a:rPr lang="en-US" dirty="0" smtClean="0">
                <a:solidFill>
                  <a:schemeClr val="accent1"/>
                </a:solidFill>
              </a:rPr>
              <a:t>)&lt;/</a:t>
            </a:r>
            <a:r>
              <a:rPr lang="en-US" dirty="0">
                <a:solidFill>
                  <a:schemeClr val="accent1"/>
                </a:solidFill>
              </a:rPr>
              <a:t>item&gt;</a:t>
            </a:r>
          </a:p>
          <a:p>
            <a:pPr marL="0" indent="0">
              <a:buNone/>
            </a:pPr>
            <a:r>
              <a:rPr lang="en-US" dirty="0" smtClean="0">
                <a:solidFill>
                  <a:schemeClr val="accent1"/>
                </a:solidFill>
              </a:rPr>
              <a:t>			&lt;item&gt;</a:t>
            </a:r>
            <a:r>
              <a:rPr lang="en-US" dirty="0" smtClean="0"/>
              <a:t>Quire </a:t>
            </a:r>
            <a:r>
              <a:rPr lang="en-US" dirty="0"/>
              <a:t>3</a:t>
            </a:r>
            <a:r>
              <a:rPr lang="en-US" dirty="0">
                <a:solidFill>
                  <a:schemeClr val="accent1"/>
                </a:solidFill>
              </a:rPr>
              <a:t>&lt;hi rend="superscript"&gt;</a:t>
            </a:r>
            <a:r>
              <a:rPr lang="en-US" dirty="0"/>
              <a:t>12</a:t>
            </a:r>
            <a:r>
              <a:rPr lang="en-US" dirty="0">
                <a:solidFill>
                  <a:schemeClr val="accent1"/>
                </a:solidFill>
              </a:rPr>
              <a:t>&lt;/hi</a:t>
            </a:r>
            <a:r>
              <a:rPr lang="en-US" dirty="0" smtClean="0">
                <a:solidFill>
                  <a:schemeClr val="accent1"/>
                </a:solidFill>
              </a:rPr>
              <a:t>&gt;</a:t>
            </a:r>
            <a:r>
              <a:rPr lang="en-US" dirty="0" smtClean="0"/>
              <a:t>(</a:t>
            </a:r>
            <a:r>
              <a:rPr lang="en-US" dirty="0" err="1"/>
              <a:t>fols</a:t>
            </a:r>
            <a:r>
              <a:rPr lang="en-US" dirty="0"/>
              <a:t>. 6-7</a:t>
            </a:r>
            <a:r>
              <a:rPr lang="en-US" dirty="0" smtClean="0"/>
              <a:t>)</a:t>
            </a:r>
            <a:r>
              <a:rPr lang="en-US" dirty="0" smtClean="0">
                <a:solidFill>
                  <a:schemeClr val="accent1"/>
                </a:solidFill>
              </a:rPr>
              <a:t>&lt;/</a:t>
            </a:r>
            <a:r>
              <a:rPr lang="en-US" dirty="0">
                <a:solidFill>
                  <a:schemeClr val="accent1"/>
                </a:solidFill>
              </a:rPr>
              <a:t>item&gt;</a:t>
            </a:r>
          </a:p>
          <a:p>
            <a:pPr marL="0" indent="0">
              <a:buNone/>
            </a:pPr>
            <a:r>
              <a:rPr lang="en-US" dirty="0" smtClean="0">
                <a:solidFill>
                  <a:schemeClr val="accent1"/>
                </a:solidFill>
              </a:rPr>
              <a:t>			&lt;item&gt;</a:t>
            </a:r>
            <a:r>
              <a:rPr lang="en-US" dirty="0" smtClean="0"/>
              <a:t>Quire </a:t>
            </a:r>
            <a:r>
              <a:rPr lang="en-US" dirty="0"/>
              <a:t>4</a:t>
            </a:r>
            <a:r>
              <a:rPr lang="en-US" dirty="0">
                <a:solidFill>
                  <a:schemeClr val="accent1"/>
                </a:solidFill>
              </a:rPr>
              <a:t>&lt;hi rend="superscript"&gt;</a:t>
            </a:r>
            <a:r>
              <a:rPr lang="en-US" dirty="0"/>
              <a:t>12</a:t>
            </a:r>
            <a:r>
              <a:rPr lang="en-US" dirty="0">
                <a:solidFill>
                  <a:schemeClr val="accent1"/>
                </a:solidFill>
              </a:rPr>
              <a:t>&lt;/hi</a:t>
            </a:r>
            <a:r>
              <a:rPr lang="en-US" dirty="0" smtClean="0">
                <a:solidFill>
                  <a:schemeClr val="accent1"/>
                </a:solidFill>
              </a:rPr>
              <a:t>&gt;</a:t>
            </a:r>
            <a:r>
              <a:rPr lang="en-US" dirty="0" smtClean="0"/>
              <a:t>(</a:t>
            </a:r>
            <a:r>
              <a:rPr lang="en-US" dirty="0" err="1"/>
              <a:t>fols</a:t>
            </a:r>
            <a:r>
              <a:rPr lang="en-US" dirty="0"/>
              <a:t>. 18-29</a:t>
            </a:r>
            <a:r>
              <a:rPr lang="en-US" dirty="0" smtClean="0"/>
              <a:t>)</a:t>
            </a:r>
            <a:r>
              <a:rPr lang="en-US" dirty="0" smtClean="0">
                <a:solidFill>
                  <a:schemeClr val="accent1"/>
                </a:solidFill>
              </a:rPr>
              <a:t>&lt;/</a:t>
            </a:r>
            <a:r>
              <a:rPr lang="en-US" dirty="0">
                <a:solidFill>
                  <a:schemeClr val="accent1"/>
                </a:solidFill>
              </a:rPr>
              <a:t>item&gt;</a:t>
            </a:r>
          </a:p>
          <a:p>
            <a:pPr marL="0" indent="0">
              <a:buNone/>
            </a:pPr>
            <a:r>
              <a:rPr lang="en-US" dirty="0" smtClean="0">
                <a:solidFill>
                  <a:schemeClr val="accent1"/>
                </a:solidFill>
              </a:rPr>
              <a:t>			&lt;item&gt;</a:t>
            </a:r>
            <a:r>
              <a:rPr lang="en-US" dirty="0" smtClean="0"/>
              <a:t>Quire </a:t>
            </a:r>
            <a:r>
              <a:rPr lang="en-US" dirty="0"/>
              <a:t>5</a:t>
            </a:r>
            <a:r>
              <a:rPr lang="en-US" dirty="0">
                <a:solidFill>
                  <a:schemeClr val="accent1"/>
                </a:solidFill>
              </a:rPr>
              <a:t>&lt;hi rend="superscript"&gt;</a:t>
            </a:r>
            <a:r>
              <a:rPr lang="en-US" dirty="0"/>
              <a:t>10</a:t>
            </a:r>
            <a:r>
              <a:rPr lang="en-US" dirty="0">
                <a:solidFill>
                  <a:schemeClr val="accent1"/>
                </a:solidFill>
              </a:rPr>
              <a:t>&lt;/hi</a:t>
            </a:r>
            <a:r>
              <a:rPr lang="en-US" dirty="0" smtClean="0">
                <a:solidFill>
                  <a:schemeClr val="accent1"/>
                </a:solidFill>
              </a:rPr>
              <a:t>&gt;</a:t>
            </a:r>
            <a:r>
              <a:rPr lang="en-US" dirty="0" smtClean="0"/>
              <a:t>(</a:t>
            </a:r>
            <a:r>
              <a:rPr lang="en-US" dirty="0" err="1"/>
              <a:t>fols</a:t>
            </a:r>
            <a:r>
              <a:rPr lang="en-US" dirty="0"/>
              <a:t>. 30-39; 39 is a stub</a:t>
            </a:r>
            <a:r>
              <a:rPr lang="en-US" dirty="0" smtClean="0"/>
              <a:t>)</a:t>
            </a:r>
            <a:r>
              <a:rPr lang="en-US" dirty="0" smtClean="0">
                <a:solidFill>
                  <a:schemeClr val="accent1"/>
                </a:solidFill>
              </a:rPr>
              <a:t>&lt;/</a:t>
            </a:r>
            <a:r>
              <a:rPr lang="en-US" dirty="0">
                <a:solidFill>
                  <a:schemeClr val="accent1"/>
                </a:solidFill>
              </a:rPr>
              <a:t>item&gt;</a:t>
            </a:r>
          </a:p>
          <a:p>
            <a:pPr marL="0" indent="0">
              <a:buNone/>
            </a:pPr>
            <a:r>
              <a:rPr lang="en-US" dirty="0" smtClean="0"/>
              <a:t>			</a:t>
            </a:r>
            <a:r>
              <a:rPr lang="en-US" dirty="0" smtClean="0">
                <a:solidFill>
                  <a:schemeClr val="accent1"/>
                </a:solidFill>
              </a:rPr>
              <a:t>&lt;</a:t>
            </a:r>
            <a:r>
              <a:rPr lang="en-US" dirty="0">
                <a:solidFill>
                  <a:schemeClr val="accent1"/>
                </a:solidFill>
              </a:rPr>
              <a:t>item&gt;</a:t>
            </a:r>
            <a:r>
              <a:rPr lang="en-US" dirty="0"/>
              <a:t>4 modern paper flyleaves</a:t>
            </a:r>
            <a:r>
              <a:rPr lang="en-US" dirty="0">
                <a:solidFill>
                  <a:schemeClr val="accent1"/>
                </a:solidFill>
              </a:rPr>
              <a:t>&lt;/item&gt;</a:t>
            </a:r>
          </a:p>
          <a:p>
            <a:pPr marL="0" indent="0">
              <a:buNone/>
            </a:pPr>
            <a:r>
              <a:rPr lang="en-US" dirty="0" smtClean="0">
                <a:solidFill>
                  <a:schemeClr val="accent1"/>
                </a:solidFill>
              </a:rPr>
              <a:t>		&lt;/</a:t>
            </a:r>
            <a:r>
              <a:rPr lang="en-US" dirty="0">
                <a:solidFill>
                  <a:schemeClr val="accent1"/>
                </a:solidFill>
              </a:rPr>
              <a:t>list</a:t>
            </a:r>
            <a:r>
              <a:rPr lang="en-US" dirty="0" smtClean="0">
                <a:solidFill>
                  <a:schemeClr val="accent1"/>
                </a:solidFill>
              </a:rPr>
              <a:t>&gt;	</a:t>
            </a:r>
            <a:endParaRPr lang="en-US" dirty="0">
              <a:solidFill>
                <a:schemeClr val="accent1"/>
              </a:solidFill>
            </a:endParaRPr>
          </a:p>
          <a:p>
            <a:pPr marL="0" indent="0">
              <a:buNone/>
            </a:pPr>
            <a:r>
              <a:rPr lang="en-US" dirty="0" smtClean="0">
                <a:solidFill>
                  <a:schemeClr val="accent1"/>
                </a:solidFill>
              </a:rPr>
              <a:t>	&lt;/p&gt;</a:t>
            </a:r>
            <a:endParaRPr lang="en-US" dirty="0">
              <a:solidFill>
                <a:schemeClr val="accent1"/>
              </a:solidFill>
            </a:endParaRPr>
          </a:p>
          <a:p>
            <a:pPr marL="0" indent="0">
              <a:lnSpc>
                <a:spcPct val="100000"/>
              </a:lnSpc>
              <a:spcBef>
                <a:spcPts val="0"/>
              </a:spcBef>
              <a:buNone/>
            </a:pPr>
            <a:r>
              <a:rPr lang="en-US" dirty="0" smtClean="0">
                <a:solidFill>
                  <a:schemeClr val="accent1"/>
                </a:solidFill>
              </a:rPr>
              <a:t>&lt;/collation&gt;</a:t>
            </a:r>
          </a:p>
          <a:p>
            <a:pPr marL="0" indent="0">
              <a:lnSpc>
                <a:spcPct val="100000"/>
              </a:lnSpc>
              <a:spcBef>
                <a:spcPts val="0"/>
              </a:spcBef>
              <a:buNone/>
            </a:pPr>
            <a:endParaRPr lang="en-US" dirty="0">
              <a:solidFill>
                <a:schemeClr val="accent1"/>
              </a:solidFill>
            </a:endParaRPr>
          </a:p>
          <a:p>
            <a:pPr marL="0" indent="0">
              <a:lnSpc>
                <a:spcPct val="100000"/>
              </a:lnSpc>
              <a:spcBef>
                <a:spcPts val="0"/>
              </a:spcBef>
              <a:buNone/>
            </a:pPr>
            <a:r>
              <a:rPr lang="en-US" dirty="0" smtClean="0"/>
              <a:t>NB. Can be done with </a:t>
            </a:r>
            <a:r>
              <a:rPr lang="en-US" dirty="0" smtClean="0">
                <a:solidFill>
                  <a:schemeClr val="accent1"/>
                </a:solidFill>
              </a:rPr>
              <a:t>&lt;formula&gt; </a:t>
            </a:r>
            <a:r>
              <a:rPr lang="en-US" dirty="0" smtClean="0"/>
              <a:t>but fewer options to structure the content</a:t>
            </a:r>
            <a:endParaRPr lang="en-US" dirty="0"/>
          </a:p>
        </p:txBody>
      </p:sp>
    </p:spTree>
    <p:extLst>
      <p:ext uri="{BB962C8B-B14F-4D97-AF65-F5344CB8AC3E}">
        <p14:creationId xmlns:p14="http://schemas.microsoft.com/office/powerpoint/2010/main" val="14608997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a:t>The cosmography of </a:t>
            </a:r>
            <a:r>
              <a:rPr lang="en-US" dirty="0" err="1" smtClean="0"/>
              <a:t>Qazwini</a:t>
            </a:r>
            <a:endParaRPr lang="en-US" dirty="0" smtClean="0"/>
          </a:p>
          <a:p>
            <a:r>
              <a:rPr lang="en-US" dirty="0">
                <a:hlinkClick r:id="rId2"/>
              </a:rPr>
              <a:t>https://</a:t>
            </a:r>
            <a:r>
              <a:rPr lang="en-US" dirty="0" err="1">
                <a:hlinkClick r:id="rId2"/>
              </a:rPr>
              <a:t>cudl.lib.cam.ac.uk</a:t>
            </a:r>
            <a:r>
              <a:rPr lang="en-US" dirty="0">
                <a:hlinkClick r:id="rId2"/>
              </a:rPr>
              <a:t>/view/MS-NN-00003-00074/458</a:t>
            </a:r>
            <a:endParaRPr lang="en-US" dirty="0"/>
          </a:p>
          <a:p>
            <a:r>
              <a:rPr lang="en-US" dirty="0" smtClean="0"/>
              <a:t>Cambridge </a:t>
            </a:r>
            <a:r>
              <a:rPr lang="en-US" dirty="0" err="1" smtClean="0"/>
              <a:t>Juvencus</a:t>
            </a:r>
            <a:endParaRPr lang="en-US" dirty="0" smtClean="0"/>
          </a:p>
          <a:p>
            <a:r>
              <a:rPr lang="en-US" dirty="0">
                <a:hlinkClick r:id="rId3"/>
              </a:rPr>
              <a:t>https://</a:t>
            </a:r>
            <a:r>
              <a:rPr lang="en-US" dirty="0" err="1">
                <a:hlinkClick r:id="rId3"/>
              </a:rPr>
              <a:t>cudl.lib.cam.ac.uk</a:t>
            </a:r>
            <a:r>
              <a:rPr lang="en-US" dirty="0">
                <a:hlinkClick r:id="rId3"/>
              </a:rPr>
              <a:t>/view/MS-FF-00004-00042/53</a:t>
            </a:r>
            <a:endParaRPr lang="en-US" dirty="0"/>
          </a:p>
        </p:txBody>
      </p:sp>
    </p:spTree>
    <p:extLst>
      <p:ext uri="{BB962C8B-B14F-4D97-AF65-F5344CB8AC3E}">
        <p14:creationId xmlns:p14="http://schemas.microsoft.com/office/powerpoint/2010/main" val="5984786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objectDesc</a:t>
            </a:r>
            <a:r>
              <a:rPr lang="en-US" sz="3200" dirty="0" smtClean="0">
                <a:solidFill>
                  <a:schemeClr val="accent1"/>
                </a:solidFill>
              </a:rPr>
              <a:t>&gt;</a:t>
            </a:r>
          </a:p>
          <a:p>
            <a:pPr marL="0" indent="0">
              <a:lnSpc>
                <a:spcPct val="100000"/>
              </a:lnSpc>
              <a:spcBef>
                <a:spcPts val="0"/>
              </a:spcBef>
              <a:buNone/>
            </a:pPr>
            <a:r>
              <a:rPr lang="en-US" sz="3200" dirty="0">
                <a:solidFill>
                  <a:srgbClr val="FF0000"/>
                </a:solidFill>
              </a:rPr>
              <a:t>	</a:t>
            </a:r>
            <a:r>
              <a:rPr lang="en-US" sz="3200" dirty="0" smtClean="0">
                <a:solidFill>
                  <a:srgbClr val="FF0000"/>
                </a:solidFill>
              </a:rPr>
              <a:t>&lt;</a:t>
            </a:r>
            <a:r>
              <a:rPr lang="en-US" sz="3200" dirty="0" err="1" smtClean="0">
                <a:solidFill>
                  <a:srgbClr val="FF0000"/>
                </a:solidFill>
              </a:rPr>
              <a:t>handDesc</a:t>
            </a:r>
            <a:r>
              <a:rPr lang="en-US" sz="3200" dirty="0" smtClean="0">
                <a:solidFill>
                  <a:srgbClr val="FF0000"/>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decoDesc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bindingDesc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sealDesc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accMat</a:t>
            </a:r>
            <a:r>
              <a:rPr lang="en-US" sz="3200" dirty="0" smtClean="0">
                <a:solidFill>
                  <a:schemeClr val="accent1"/>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13122225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6410"/>
            <a:ext cx="10515600" cy="5630553"/>
          </a:xfrm>
        </p:spPr>
        <p:txBody>
          <a:bodyPr/>
          <a:lstStyle/>
          <a:p>
            <a:pPr marL="0" indent="0">
              <a:buNone/>
            </a:pPr>
            <a:endParaRPr lang="en-US" dirty="0" smtClean="0">
              <a:solidFill>
                <a:schemeClr val="accent1"/>
              </a:solidFill>
            </a:endParaRPr>
          </a:p>
          <a:p>
            <a:pPr marL="0" indent="0">
              <a:buNone/>
            </a:pPr>
            <a:endParaRPr lang="en-US" dirty="0">
              <a:solidFill>
                <a:schemeClr val="accent1"/>
              </a:solidFill>
            </a:endParaRPr>
          </a:p>
          <a:p>
            <a:pPr marL="0" indent="0">
              <a:buNone/>
            </a:pPr>
            <a:r>
              <a:rPr lang="en-US" dirty="0" smtClean="0">
                <a:solidFill>
                  <a:schemeClr val="accent1"/>
                </a:solidFill>
              </a:rPr>
              <a:t>&lt;</a:t>
            </a:r>
            <a:r>
              <a:rPr lang="en-US" dirty="0" err="1">
                <a:solidFill>
                  <a:schemeClr val="accent1"/>
                </a:solidFill>
              </a:rPr>
              <a:t>handDesc</a:t>
            </a:r>
            <a:r>
              <a:rPr lang="en-US" dirty="0">
                <a:solidFill>
                  <a:schemeClr val="accent1"/>
                </a:solidFill>
              </a:rPr>
              <a:t>&gt;</a:t>
            </a:r>
          </a:p>
          <a:p>
            <a:pPr marL="0" indent="0">
              <a:buNone/>
            </a:pPr>
            <a:r>
              <a:rPr lang="en-US" dirty="0">
                <a:solidFill>
                  <a:schemeClr val="accent1"/>
                </a:solidFill>
              </a:rPr>
              <a:t>	</a:t>
            </a:r>
            <a:r>
              <a:rPr lang="en-US" dirty="0" smtClean="0">
                <a:solidFill>
                  <a:schemeClr val="accent1"/>
                </a:solidFill>
              </a:rPr>
              <a:t>&lt;</a:t>
            </a:r>
            <a:r>
              <a:rPr lang="en-US" dirty="0" err="1">
                <a:solidFill>
                  <a:schemeClr val="accent1"/>
                </a:solidFill>
              </a:rPr>
              <a:t>handNote</a:t>
            </a:r>
            <a:r>
              <a:rPr lang="en-US" dirty="0">
                <a:solidFill>
                  <a:schemeClr val="accent1"/>
                </a:solidFill>
              </a:rPr>
              <a:t> scope="sole" script="</a:t>
            </a:r>
            <a:r>
              <a:rPr lang="en-US" dirty="0" err="1">
                <a:solidFill>
                  <a:schemeClr val="accent1"/>
                </a:solidFill>
              </a:rPr>
              <a:t>nepālākṣarā</a:t>
            </a:r>
            <a:r>
              <a:rPr lang="en-US" dirty="0">
                <a:solidFill>
                  <a:schemeClr val="accent1"/>
                </a:solidFill>
              </a:rPr>
              <a:t>" medium="</a:t>
            </a:r>
            <a:r>
              <a:rPr lang="en-US" dirty="0" err="1">
                <a:solidFill>
                  <a:schemeClr val="accent1"/>
                </a:solidFill>
              </a:rPr>
              <a:t>goldenink</a:t>
            </a:r>
            <a:r>
              <a:rPr lang="en-US" dirty="0" smtClean="0">
                <a:solidFill>
                  <a:schemeClr val="accent1"/>
                </a:solidFill>
              </a:rPr>
              <a:t>"&gt;</a:t>
            </a:r>
            <a:r>
              <a:rPr lang="en-US" dirty="0" err="1" smtClean="0"/>
              <a:t>Nepālākṣarā</a:t>
            </a:r>
            <a:r>
              <a:rPr lang="en-US" dirty="0" smtClean="0"/>
              <a:t> </a:t>
            </a:r>
            <a:r>
              <a:rPr lang="en-US" dirty="0"/>
              <a:t>in golden ink</a:t>
            </a:r>
            <a:r>
              <a:rPr lang="en-US" dirty="0" smtClean="0"/>
              <a:t>.</a:t>
            </a:r>
            <a:endParaRPr lang="en-US" dirty="0"/>
          </a:p>
          <a:p>
            <a:pPr marL="0" indent="0">
              <a:buNone/>
            </a:pPr>
            <a:r>
              <a:rPr lang="en-US" dirty="0" smtClean="0"/>
              <a:t>	</a:t>
            </a:r>
            <a:r>
              <a:rPr lang="en-US" dirty="0" smtClean="0">
                <a:solidFill>
                  <a:schemeClr val="accent1"/>
                </a:solidFill>
              </a:rPr>
              <a:t>&lt;/</a:t>
            </a:r>
            <a:r>
              <a:rPr lang="en-US" dirty="0" err="1">
                <a:solidFill>
                  <a:schemeClr val="accent1"/>
                </a:solidFill>
              </a:rPr>
              <a:t>handNote</a:t>
            </a:r>
            <a:r>
              <a:rPr lang="en-US" dirty="0">
                <a:solidFill>
                  <a:schemeClr val="accent1"/>
                </a:solidFill>
              </a:rPr>
              <a:t>&gt;</a:t>
            </a:r>
          </a:p>
          <a:p>
            <a:pPr marL="0" indent="0">
              <a:buNone/>
            </a:pPr>
            <a:r>
              <a:rPr lang="en-US" dirty="0">
                <a:solidFill>
                  <a:schemeClr val="accent1"/>
                </a:solidFill>
              </a:rPr>
              <a:t>&lt;/</a:t>
            </a:r>
            <a:r>
              <a:rPr lang="en-US" dirty="0" err="1">
                <a:solidFill>
                  <a:schemeClr val="accent1"/>
                </a:solidFill>
              </a:rPr>
              <a:t>handDesc</a:t>
            </a:r>
            <a:r>
              <a:rPr lang="en-US" dirty="0">
                <a:solidFill>
                  <a:schemeClr val="accent1"/>
                </a:solidFill>
              </a:rPr>
              <a:t>&gt;</a:t>
            </a:r>
          </a:p>
          <a:p>
            <a:pPr marL="0" indent="0">
              <a:lnSpc>
                <a:spcPct val="100000"/>
              </a:lnSpc>
              <a:spcBef>
                <a:spcPts val="0"/>
              </a:spcBef>
              <a:buNone/>
            </a:pPr>
            <a:endParaRPr lang="en-US" dirty="0"/>
          </a:p>
        </p:txBody>
      </p:sp>
    </p:spTree>
    <p:extLst>
      <p:ext uri="{BB962C8B-B14F-4D97-AF65-F5344CB8AC3E}">
        <p14:creationId xmlns:p14="http://schemas.microsoft.com/office/powerpoint/2010/main" val="149763166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err="1"/>
              <a:t>Kalāpustaka</a:t>
            </a:r>
            <a:endParaRPr lang="en-US" dirty="0"/>
          </a:p>
          <a:p>
            <a:r>
              <a:rPr lang="en-US" dirty="0">
                <a:hlinkClick r:id="rId2"/>
              </a:rPr>
              <a:t>https://</a:t>
            </a:r>
            <a:r>
              <a:rPr lang="en-US" dirty="0" err="1">
                <a:hlinkClick r:id="rId2"/>
              </a:rPr>
              <a:t>cudl.lib.cam.ac.uk</a:t>
            </a:r>
            <a:r>
              <a:rPr lang="en-US" dirty="0">
                <a:hlinkClick r:id="rId2"/>
              </a:rPr>
              <a:t>/view/MS-ADD-00864/132</a:t>
            </a:r>
            <a:endParaRPr lang="en-US" dirty="0"/>
          </a:p>
        </p:txBody>
      </p:sp>
    </p:spTree>
    <p:extLst>
      <p:ext uri="{BB962C8B-B14F-4D97-AF65-F5344CB8AC3E}">
        <p14:creationId xmlns:p14="http://schemas.microsoft.com/office/powerpoint/2010/main" val="18375240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objectDesc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handDesc</a:t>
            </a:r>
            <a:r>
              <a:rPr lang="en-US" sz="3200" dirty="0" smtClean="0">
                <a:solidFill>
                  <a:schemeClr val="accent1"/>
                </a:solidFill>
              </a:rPr>
              <a:t>&gt;</a:t>
            </a:r>
          </a:p>
          <a:p>
            <a:pPr marL="0" indent="0">
              <a:lnSpc>
                <a:spcPct val="100000"/>
              </a:lnSpc>
              <a:spcBef>
                <a:spcPts val="0"/>
              </a:spcBef>
              <a:buNone/>
            </a:pPr>
            <a:r>
              <a:rPr lang="en-US" sz="3200" dirty="0">
                <a:solidFill>
                  <a:srgbClr val="FF0000"/>
                </a:solidFill>
              </a:rPr>
              <a:t>	</a:t>
            </a:r>
            <a:r>
              <a:rPr lang="en-US" sz="3200" dirty="0" smtClean="0">
                <a:solidFill>
                  <a:srgbClr val="FF0000"/>
                </a:solidFill>
              </a:rPr>
              <a:t>&lt;</a:t>
            </a:r>
            <a:r>
              <a:rPr lang="en-US" sz="3200" dirty="0" err="1" smtClean="0">
                <a:solidFill>
                  <a:srgbClr val="FF0000"/>
                </a:solidFill>
              </a:rPr>
              <a:t>decoDesc</a:t>
            </a:r>
            <a:r>
              <a:rPr lang="en-US" sz="3200" dirty="0" smtClean="0">
                <a:solidFill>
                  <a:srgbClr val="FF0000"/>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bindingDesc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sealDesc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accMat</a:t>
            </a:r>
            <a:r>
              <a:rPr lang="en-US" sz="3200" dirty="0" smtClean="0">
                <a:solidFill>
                  <a:schemeClr val="accent1"/>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201541505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5735"/>
            <a:ext cx="10515600" cy="5701228"/>
          </a:xfrm>
        </p:spPr>
        <p:txBody>
          <a:bodyPr>
            <a:normAutofit fontScale="70000" lnSpcReduction="20000"/>
          </a:bodyPr>
          <a:lstStyle/>
          <a:p>
            <a:pPr marL="0" indent="0">
              <a:lnSpc>
                <a:spcPct val="100000"/>
              </a:lnSpc>
              <a:spcBef>
                <a:spcPts val="0"/>
              </a:spcBef>
              <a:buNone/>
            </a:pPr>
            <a:r>
              <a:rPr lang="en-US" dirty="0">
                <a:solidFill>
                  <a:schemeClr val="accent1"/>
                </a:solidFill>
              </a:rPr>
              <a:t>&lt;</a:t>
            </a:r>
            <a:r>
              <a:rPr lang="en-US" dirty="0" err="1">
                <a:solidFill>
                  <a:schemeClr val="accent1"/>
                </a:solidFill>
              </a:rPr>
              <a:t>decoDesc</a:t>
            </a:r>
            <a:r>
              <a:rPr lang="en-US" dirty="0">
                <a:solidFill>
                  <a:schemeClr val="accent1"/>
                </a:solidFill>
              </a:rPr>
              <a:t>&gt;</a:t>
            </a:r>
            <a:br>
              <a:rPr lang="en-US" dirty="0">
                <a:solidFill>
                  <a:schemeClr val="accent1"/>
                </a:solidFill>
              </a:rPr>
            </a:br>
            <a:r>
              <a:rPr lang="en-US" dirty="0">
                <a:solidFill>
                  <a:schemeClr val="accent1"/>
                </a:solidFill>
              </a:rPr>
              <a:t>	</a:t>
            </a:r>
            <a:r>
              <a:rPr lang="en-US" dirty="0" smtClean="0">
                <a:solidFill>
                  <a:schemeClr val="accent1"/>
                </a:solidFill>
              </a:rPr>
              <a:t>&lt;</a:t>
            </a:r>
            <a:r>
              <a:rPr lang="en-US" dirty="0" err="1" smtClean="0">
                <a:solidFill>
                  <a:schemeClr val="accent1"/>
                </a:solidFill>
              </a:rPr>
              <a:t>decoNote</a:t>
            </a:r>
            <a:r>
              <a:rPr lang="en-US" dirty="0" smtClean="0">
                <a:solidFill>
                  <a:schemeClr val="accent1"/>
                </a:solidFill>
              </a:rPr>
              <a:t> type="miniature"&gt;</a:t>
            </a:r>
            <a:r>
              <a:rPr lang="en-US" dirty="0" smtClean="0"/>
              <a:t>Full-page miniatures: tinted in yellow and</a:t>
            </a:r>
            <a:br>
              <a:rPr lang="en-US" dirty="0" smtClean="0"/>
            </a:br>
            <a:r>
              <a:rPr lang="en-US" dirty="0" smtClean="0"/>
              <a:t>orange (now much darkened), and framed by bars, often filled with</a:t>
            </a:r>
            <a:br>
              <a:rPr lang="en-US" dirty="0" smtClean="0"/>
            </a:br>
            <a:r>
              <a:rPr lang="en-US" dirty="0" smtClean="0"/>
              <a:t>geometric patterns and interlace:</a:t>
            </a:r>
            <a:br>
              <a:rPr lang="en-US" dirty="0" smtClean="0"/>
            </a:br>
            <a:r>
              <a:rPr lang="en-US" dirty="0" smtClean="0"/>
              <a:t>		</a:t>
            </a:r>
            <a:r>
              <a:rPr lang="en-US" dirty="0" smtClean="0">
                <a:solidFill>
                  <a:schemeClr val="accent1"/>
                </a:solidFill>
              </a:rPr>
              <a:t>&lt;list&gt;</a:t>
            </a:r>
            <a:br>
              <a:rPr lang="en-US" dirty="0" smtClean="0">
                <a:solidFill>
                  <a:schemeClr val="accent1"/>
                </a:solidFill>
              </a:rPr>
            </a:br>
            <a:r>
              <a:rPr lang="en-US" dirty="0" smtClean="0">
                <a:solidFill>
                  <a:schemeClr val="accent1"/>
                </a:solidFill>
              </a:rPr>
              <a:t>                                   	&lt;item&gt;</a:t>
            </a:r>
            <a:r>
              <a:rPr lang="en-US" dirty="0" smtClean="0"/>
              <a:t>Four figures, lower two with</a:t>
            </a:r>
            <a:br>
              <a:rPr lang="en-US" dirty="0" smtClean="0"/>
            </a:br>
            <a:r>
              <a:rPr lang="en-US" dirty="0" smtClean="0"/>
              <a:t>                                		satchels, arranged around cross with star/flower in circle at</a:t>
            </a:r>
            <a:br>
              <a:rPr lang="en-US" dirty="0" smtClean="0"/>
            </a:br>
            <a:r>
              <a:rPr lang="en-US" dirty="0" smtClean="0"/>
              <a:t>                                		intersection </a:t>
            </a:r>
            <a:r>
              <a:rPr lang="en-US" dirty="0" smtClean="0">
                <a:solidFill>
                  <a:schemeClr val="accent1"/>
                </a:solidFill>
              </a:rPr>
              <a:t>(&lt;locus from="1v" to="1v"&gt;</a:t>
            </a:r>
            <a:r>
              <a:rPr lang="en-US" dirty="0" smtClean="0"/>
              <a:t>1v</a:t>
            </a:r>
            <a:r>
              <a:rPr lang="en-US" dirty="0" smtClean="0">
                <a:solidFill>
                  <a:schemeClr val="accent1"/>
                </a:solidFill>
              </a:rPr>
              <a:t>&lt;/locus&gt;)&lt;/item&gt;</a:t>
            </a:r>
            <a:br>
              <a:rPr lang="en-US" dirty="0" smtClean="0">
                <a:solidFill>
                  <a:schemeClr val="accent1"/>
                </a:solidFill>
              </a:rPr>
            </a:br>
            <a:r>
              <a:rPr lang="en-US" dirty="0" smtClean="0">
                <a:solidFill>
                  <a:schemeClr val="accent1"/>
                </a:solidFill>
              </a:rPr>
              <a:t>                                    	&lt;item&gt;</a:t>
            </a:r>
            <a:r>
              <a:rPr lang="en-US" dirty="0" smtClean="0"/>
              <a:t>Bearded, seated</a:t>
            </a:r>
            <a:br>
              <a:rPr lang="en-US" dirty="0" smtClean="0"/>
            </a:br>
            <a:r>
              <a:rPr lang="en-US" dirty="0" smtClean="0"/>
              <a:t>	                                  figure (head partially effaced by staining) holding sword and</a:t>
            </a:r>
            <a:br>
              <a:rPr lang="en-US" dirty="0" smtClean="0"/>
            </a:br>
            <a:r>
              <a:rPr lang="en-US" dirty="0" smtClean="0"/>
              <a:t>                                	  flanked by two small figures </a:t>
            </a:r>
            <a:r>
              <a:rPr lang="en-US" dirty="0" smtClean="0">
                <a:solidFill>
                  <a:schemeClr val="accent1"/>
                </a:solidFill>
              </a:rPr>
              <a:t>(&lt;locus from="4v</a:t>
            </a:r>
            <a:r>
              <a:rPr lang="en-US" dirty="0">
                <a:solidFill>
                  <a:schemeClr val="accent1"/>
                </a:solidFill>
              </a:rPr>
              <a:t>"</a:t>
            </a:r>
            <a:r>
              <a:rPr lang="en-US" dirty="0" smtClean="0">
                <a:solidFill>
                  <a:schemeClr val="accent1"/>
                </a:solidFill>
              </a:rPr>
              <a:t> to="4v"&gt;</a:t>
            </a:r>
            <a:r>
              <a:rPr lang="en-US" dirty="0" smtClean="0"/>
              <a:t>4v</a:t>
            </a:r>
            <a:r>
              <a:rPr lang="en-US" dirty="0" smtClean="0">
                <a:solidFill>
                  <a:schemeClr val="accent1"/>
                </a:solidFill>
              </a:rPr>
              <a:t>&lt;/locus&gt;</a:t>
            </a:r>
            <a:r>
              <a:rPr lang="en-US" dirty="0" smtClean="0"/>
              <a:t>)</a:t>
            </a:r>
            <a:r>
              <a:rPr lang="en-US" dirty="0" smtClean="0">
                <a:solidFill>
                  <a:schemeClr val="accent1"/>
                </a:solidFill>
              </a:rPr>
              <a:t>&lt;/item&gt;</a:t>
            </a:r>
            <a:r>
              <a:rPr lang="en-US" dirty="0" smtClean="0"/>
              <a:t/>
            </a:r>
            <a:br>
              <a:rPr lang="en-US" dirty="0" smtClean="0"/>
            </a:br>
            <a:r>
              <a:rPr lang="en-US" dirty="0" smtClean="0"/>
              <a:t>			</a:t>
            </a:r>
            <a:r>
              <a:rPr lang="en-US" dirty="0" smtClean="0">
                <a:solidFill>
                  <a:srgbClr val="92D050"/>
                </a:solidFill>
              </a:rPr>
              <a:t>&lt;!-- </a:t>
            </a:r>
            <a:r>
              <a:rPr lang="en-US" dirty="0" err="1" smtClean="0">
                <a:solidFill>
                  <a:srgbClr val="92D050"/>
                </a:solidFill>
              </a:rPr>
              <a:t>etc</a:t>
            </a:r>
            <a:r>
              <a:rPr lang="en-US" dirty="0">
                <a:solidFill>
                  <a:srgbClr val="92D050"/>
                </a:solidFill>
              </a:rPr>
              <a:t> </a:t>
            </a:r>
            <a:r>
              <a:rPr lang="en-US" dirty="0" smtClean="0">
                <a:solidFill>
                  <a:srgbClr val="92D050"/>
                </a:solidFill>
              </a:rPr>
              <a:t>--&gt;</a:t>
            </a:r>
            <a:r>
              <a:rPr lang="en-US" dirty="0" smtClean="0"/>
              <a:t>                             			       </a:t>
            </a:r>
            <a:br>
              <a:rPr lang="en-US" dirty="0" smtClean="0"/>
            </a:br>
            <a:r>
              <a:rPr lang="en-US" dirty="0" smtClean="0"/>
              <a:t>                            	</a:t>
            </a:r>
            <a:r>
              <a:rPr lang="en-US" dirty="0" smtClean="0">
                <a:solidFill>
                  <a:schemeClr val="accent1"/>
                </a:solidFill>
              </a:rPr>
              <a:t>&lt;/list&gt;</a:t>
            </a:r>
            <a:br>
              <a:rPr lang="en-US" dirty="0" smtClean="0">
                <a:solidFill>
                  <a:schemeClr val="accent1"/>
                </a:solidFill>
              </a:rPr>
            </a:br>
            <a:r>
              <a:rPr lang="en-US" dirty="0" smtClean="0">
                <a:solidFill>
                  <a:schemeClr val="accent1"/>
                </a:solidFill>
              </a:rPr>
              <a:t>                  &lt;/</a:t>
            </a:r>
            <a:r>
              <a:rPr lang="en-US" dirty="0" err="1" smtClean="0">
                <a:solidFill>
                  <a:schemeClr val="accent1"/>
                </a:solidFill>
              </a:rPr>
              <a:t>decoNote</a:t>
            </a:r>
            <a:r>
              <a:rPr lang="en-US" dirty="0" smtClean="0">
                <a:solidFill>
                  <a:schemeClr val="accent1"/>
                </a:solidFill>
              </a:rPr>
              <a:t>&gt;</a:t>
            </a:r>
          </a:p>
          <a:p>
            <a:pPr marL="0" indent="0">
              <a:lnSpc>
                <a:spcPct val="100000"/>
              </a:lnSpc>
              <a:spcBef>
                <a:spcPts val="0"/>
              </a:spcBef>
              <a:buNone/>
            </a:pPr>
            <a:r>
              <a:rPr lang="en-US" dirty="0" smtClean="0">
                <a:solidFill>
                  <a:schemeClr val="accent1"/>
                </a:solidFill>
              </a:rPr>
              <a:t/>
            </a:r>
            <a:br>
              <a:rPr lang="en-US" dirty="0" smtClean="0">
                <a:solidFill>
                  <a:schemeClr val="accent1"/>
                </a:solidFill>
              </a:rPr>
            </a:br>
            <a:r>
              <a:rPr lang="en-US" dirty="0" smtClean="0"/>
              <a:t>                  </a:t>
            </a:r>
            <a:r>
              <a:rPr lang="en-US" dirty="0">
                <a:solidFill>
                  <a:schemeClr val="accent1"/>
                </a:solidFill>
              </a:rPr>
              <a:t>&lt;</a:t>
            </a:r>
            <a:r>
              <a:rPr lang="en-US" dirty="0" err="1">
                <a:solidFill>
                  <a:schemeClr val="accent1"/>
                </a:solidFill>
              </a:rPr>
              <a:t>decoNote</a:t>
            </a:r>
            <a:r>
              <a:rPr lang="en-US" dirty="0">
                <a:solidFill>
                  <a:schemeClr val="accent1"/>
                </a:solidFill>
              </a:rPr>
              <a:t> type="initial"&gt;</a:t>
            </a:r>
            <a:r>
              <a:rPr lang="en-US" dirty="0"/>
              <a:t>Ornamental and minor initials: initials (2-5</a:t>
            </a:r>
            <a:br>
              <a:rPr lang="en-US" dirty="0"/>
            </a:br>
            <a:r>
              <a:rPr lang="en-US" dirty="0"/>
              <a:t>                   </a:t>
            </a:r>
            <a:r>
              <a:rPr lang="en-US" dirty="0" smtClean="0"/>
              <a:t>lines</a:t>
            </a:r>
            <a:r>
              <a:rPr lang="en-US" dirty="0"/>
              <a:t>) formed of black interlocking stripes, with geometric infill,</a:t>
            </a:r>
            <a:br>
              <a:rPr lang="en-US" dirty="0"/>
            </a:br>
            <a:r>
              <a:rPr lang="en-US" dirty="0"/>
              <a:t>                   </a:t>
            </a:r>
            <a:r>
              <a:rPr lang="en-US" dirty="0" smtClean="0"/>
              <a:t>tinted </a:t>
            </a:r>
            <a:r>
              <a:rPr lang="en-US" dirty="0"/>
              <a:t>in yellow and orange, and human and animal heads projecting</a:t>
            </a:r>
            <a:br>
              <a:rPr lang="en-US" dirty="0"/>
            </a:br>
            <a:r>
              <a:rPr lang="en-US" dirty="0"/>
              <a:t>                   </a:t>
            </a:r>
            <a:r>
              <a:rPr lang="en-US" dirty="0" smtClean="0"/>
              <a:t>from finials</a:t>
            </a:r>
          </a:p>
          <a:p>
            <a:pPr marL="0" indent="0">
              <a:lnSpc>
                <a:spcPct val="100000"/>
              </a:lnSpc>
              <a:spcBef>
                <a:spcPts val="0"/>
              </a:spcBef>
              <a:buNone/>
            </a:pPr>
            <a:r>
              <a:rPr lang="en-US" dirty="0">
                <a:solidFill>
                  <a:schemeClr val="accent1"/>
                </a:solidFill>
              </a:rPr>
              <a:t>	</a:t>
            </a:r>
            <a:r>
              <a:rPr lang="en-US" dirty="0" smtClean="0">
                <a:solidFill>
                  <a:schemeClr val="accent1"/>
                </a:solidFill>
              </a:rPr>
              <a:t>&lt;/</a:t>
            </a:r>
            <a:r>
              <a:rPr lang="en-US" dirty="0" err="1">
                <a:solidFill>
                  <a:schemeClr val="accent1"/>
                </a:solidFill>
              </a:rPr>
              <a:t>decoNote</a:t>
            </a:r>
            <a:r>
              <a:rPr lang="en-US" dirty="0">
                <a:solidFill>
                  <a:schemeClr val="accent1"/>
                </a:solidFill>
              </a:rPr>
              <a:t>&gt;</a:t>
            </a:r>
          </a:p>
          <a:p>
            <a:pPr marL="0" indent="0">
              <a:lnSpc>
                <a:spcPct val="100000"/>
              </a:lnSpc>
              <a:spcBef>
                <a:spcPts val="0"/>
              </a:spcBef>
              <a:buNone/>
            </a:pPr>
            <a:r>
              <a:rPr lang="en-US" dirty="0" smtClean="0">
                <a:solidFill>
                  <a:schemeClr val="accent1"/>
                </a:solidFill>
              </a:rPr>
              <a:t>&lt;/</a:t>
            </a:r>
            <a:r>
              <a:rPr lang="en-US" dirty="0" err="1" smtClean="0">
                <a:solidFill>
                  <a:schemeClr val="accent1"/>
                </a:solidFill>
              </a:rPr>
              <a:t>decoDesc</a:t>
            </a:r>
            <a:r>
              <a:rPr lang="en-US" dirty="0" smtClean="0">
                <a:solidFill>
                  <a:schemeClr val="accent1"/>
                </a:solidFill>
              </a:rPr>
              <a:t>&gt;</a:t>
            </a:r>
            <a:endParaRPr lang="en-US" dirty="0">
              <a:solidFill>
                <a:schemeClr val="accent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9588359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Book of Deer</a:t>
            </a:r>
          </a:p>
          <a:p>
            <a:r>
              <a:rPr lang="en-US" dirty="0">
                <a:hlinkClick r:id="rId2"/>
              </a:rPr>
              <a:t>https://</a:t>
            </a:r>
            <a:r>
              <a:rPr lang="en-US" dirty="0" err="1">
                <a:hlinkClick r:id="rId2"/>
              </a:rPr>
              <a:t>cudl.lib.cam.ac.uk</a:t>
            </a:r>
            <a:r>
              <a:rPr lang="en-US" dirty="0">
                <a:hlinkClick r:id="rId2"/>
              </a:rPr>
              <a:t>/view/MS-II-00006-00032/103</a:t>
            </a:r>
            <a:endParaRPr lang="en-US" dirty="0"/>
          </a:p>
        </p:txBody>
      </p:sp>
    </p:spTree>
    <p:extLst>
      <p:ext uri="{BB962C8B-B14F-4D97-AF65-F5344CB8AC3E}">
        <p14:creationId xmlns:p14="http://schemas.microsoft.com/office/powerpoint/2010/main" val="97516742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objectDesc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handDesc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decoDesc</a:t>
            </a:r>
            <a:r>
              <a:rPr lang="en-US" sz="3200" dirty="0" smtClean="0">
                <a:solidFill>
                  <a:schemeClr val="accent1"/>
                </a:solidFill>
              </a:rPr>
              <a:t>&gt;</a:t>
            </a:r>
          </a:p>
          <a:p>
            <a:pPr marL="0" lvl="0" indent="0">
              <a:lnSpc>
                <a:spcPct val="100000"/>
              </a:lnSpc>
              <a:spcBef>
                <a:spcPts val="0"/>
              </a:spcBef>
              <a:buNone/>
            </a:pPr>
            <a:r>
              <a:rPr lang="en-US" sz="3200" dirty="0">
                <a:solidFill>
                  <a:srgbClr val="FF0000"/>
                </a:solidFill>
              </a:rPr>
              <a:t>	</a:t>
            </a:r>
            <a:r>
              <a:rPr lang="en-US" sz="3200" dirty="0" smtClean="0">
                <a:solidFill>
                  <a:srgbClr val="FF0000"/>
                </a:solidFill>
              </a:rPr>
              <a:t>&lt;</a:t>
            </a:r>
            <a:r>
              <a:rPr lang="en-US" sz="3200" dirty="0" err="1" smtClean="0">
                <a:solidFill>
                  <a:srgbClr val="FF0000"/>
                </a:solidFill>
              </a:rPr>
              <a:t>bindingDesc</a:t>
            </a:r>
            <a:r>
              <a:rPr lang="en-US" sz="3200" dirty="0" smtClean="0">
                <a:solidFill>
                  <a:srgbClr val="FF0000"/>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sealDesc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accMat</a:t>
            </a:r>
            <a:r>
              <a:rPr lang="en-US" sz="3200" dirty="0" smtClean="0">
                <a:solidFill>
                  <a:schemeClr val="accent1"/>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139184496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8411"/>
            <a:ext cx="10515600" cy="5608552"/>
          </a:xfrm>
        </p:spPr>
        <p:txBody>
          <a:bodyPr/>
          <a:lstStyle/>
          <a:p>
            <a:pPr marL="0" indent="0">
              <a:buNone/>
            </a:pPr>
            <a:r>
              <a:rPr lang="en-US" dirty="0">
                <a:solidFill>
                  <a:schemeClr val="accent1"/>
                </a:solidFill>
              </a:rPr>
              <a:t>&lt;</a:t>
            </a:r>
            <a:r>
              <a:rPr lang="en-US" dirty="0" err="1">
                <a:solidFill>
                  <a:schemeClr val="accent1"/>
                </a:solidFill>
              </a:rPr>
              <a:t>bindingDesc</a:t>
            </a:r>
            <a:r>
              <a:rPr lang="en-US" dirty="0">
                <a:solidFill>
                  <a:schemeClr val="accent1"/>
                </a:solidFill>
              </a:rPr>
              <a:t>&gt;</a:t>
            </a:r>
          </a:p>
          <a:p>
            <a:pPr marL="0" indent="0">
              <a:buNone/>
            </a:pPr>
            <a:r>
              <a:rPr lang="en-US" dirty="0" smtClean="0">
                <a:solidFill>
                  <a:schemeClr val="accent1"/>
                </a:solidFill>
              </a:rPr>
              <a:t>	&lt;p&gt;</a:t>
            </a:r>
            <a:r>
              <a:rPr lang="en-US" dirty="0" smtClean="0"/>
              <a:t>Seventeenth-century limp </a:t>
            </a:r>
            <a:r>
              <a:rPr lang="en-US" dirty="0" smtClean="0">
                <a:solidFill>
                  <a:schemeClr val="accent1"/>
                </a:solidFill>
              </a:rPr>
              <a:t>&lt;</a:t>
            </a:r>
            <a:r>
              <a:rPr lang="en-US" dirty="0">
                <a:solidFill>
                  <a:schemeClr val="accent1"/>
                </a:solidFill>
              </a:rPr>
              <a:t>material&gt;</a:t>
            </a:r>
            <a:r>
              <a:rPr lang="en-US" dirty="0"/>
              <a:t>parchment</a:t>
            </a:r>
            <a:r>
              <a:rPr lang="en-US" dirty="0">
                <a:solidFill>
                  <a:schemeClr val="accent1"/>
                </a:solidFill>
              </a:rPr>
              <a:t>&lt;/material&gt;</a:t>
            </a:r>
          </a:p>
          <a:p>
            <a:pPr marL="0" indent="0">
              <a:buNone/>
            </a:pPr>
            <a:r>
              <a:rPr lang="en-US" dirty="0"/>
              <a:t>wrapper, from an old legal document, very worn and </a:t>
            </a:r>
            <a:r>
              <a:rPr lang="en-US" dirty="0" smtClean="0"/>
              <a:t>stained</a:t>
            </a:r>
            <a:r>
              <a:rPr lang="en-US" dirty="0" smtClean="0">
                <a:solidFill>
                  <a:schemeClr val="accent1"/>
                </a:solidFill>
              </a:rPr>
              <a:t>&lt;/</a:t>
            </a:r>
            <a:r>
              <a:rPr lang="en-US" dirty="0">
                <a:solidFill>
                  <a:schemeClr val="accent1"/>
                </a:solidFill>
              </a:rPr>
              <a:t>p&gt;</a:t>
            </a:r>
          </a:p>
          <a:p>
            <a:pPr marL="0" indent="0">
              <a:buNone/>
            </a:pPr>
            <a:r>
              <a:rPr lang="en-US" dirty="0">
                <a:solidFill>
                  <a:schemeClr val="accent1"/>
                </a:solidFill>
              </a:rPr>
              <a:t>&lt;/</a:t>
            </a:r>
            <a:r>
              <a:rPr lang="en-US" dirty="0" err="1">
                <a:solidFill>
                  <a:schemeClr val="accent1"/>
                </a:solidFill>
              </a:rPr>
              <a:t>bindingDesc</a:t>
            </a:r>
            <a:r>
              <a:rPr lang="en-US" dirty="0">
                <a:solidFill>
                  <a:schemeClr val="accent1"/>
                </a:solidFill>
              </a:rPr>
              <a:t>&gt;</a:t>
            </a:r>
          </a:p>
          <a:p>
            <a:pPr marL="0" indent="0">
              <a:lnSpc>
                <a:spcPct val="100000"/>
              </a:lnSpc>
              <a:spcBef>
                <a:spcPts val="0"/>
              </a:spcBef>
              <a:buNone/>
            </a:pPr>
            <a:endParaRPr lang="en-US" dirty="0" smtClean="0"/>
          </a:p>
          <a:p>
            <a:pPr marL="0" indent="0">
              <a:lnSpc>
                <a:spcPct val="100000"/>
              </a:lnSpc>
              <a:spcBef>
                <a:spcPts val="0"/>
              </a:spcBef>
              <a:buNone/>
            </a:pPr>
            <a:endParaRPr lang="en-US" dirty="0"/>
          </a:p>
          <a:p>
            <a:pPr marL="0" indent="0">
              <a:lnSpc>
                <a:spcPct val="100000"/>
              </a:lnSpc>
              <a:spcBef>
                <a:spcPts val="0"/>
              </a:spcBef>
              <a:buNone/>
            </a:pPr>
            <a:r>
              <a:rPr lang="en-US" dirty="0" smtClean="0"/>
              <a:t>NB. Can use multiple </a:t>
            </a:r>
            <a:r>
              <a:rPr lang="en-US" dirty="0" smtClean="0">
                <a:solidFill>
                  <a:schemeClr val="accent1"/>
                </a:solidFill>
              </a:rPr>
              <a:t>&lt;binding&gt; </a:t>
            </a:r>
            <a:r>
              <a:rPr lang="en-US" dirty="0" smtClean="0"/>
              <a:t>elements for multiple bindings</a:t>
            </a:r>
            <a:endParaRPr lang="en-US" dirty="0"/>
          </a:p>
        </p:txBody>
      </p:sp>
    </p:spTree>
    <p:extLst>
      <p:ext uri="{BB962C8B-B14F-4D97-AF65-F5344CB8AC3E}">
        <p14:creationId xmlns:p14="http://schemas.microsoft.com/office/powerpoint/2010/main" val="171425168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Examples</a:t>
            </a:r>
            <a:endParaRPr lang="en-US" dirty="0"/>
          </a:p>
        </p:txBody>
      </p:sp>
      <p:sp>
        <p:nvSpPr>
          <p:cNvPr id="3" name="Content Placeholder 2"/>
          <p:cNvSpPr>
            <a:spLocks noGrp="1"/>
          </p:cNvSpPr>
          <p:nvPr>
            <p:ph idx="1"/>
          </p:nvPr>
        </p:nvSpPr>
        <p:spPr/>
        <p:txBody>
          <a:bodyPr/>
          <a:lstStyle/>
          <a:p>
            <a:r>
              <a:rPr lang="en-US" dirty="0" smtClean="0"/>
              <a:t>Lund Library Catalogue</a:t>
            </a:r>
          </a:p>
          <a:p>
            <a:r>
              <a:rPr lang="en-US" dirty="0">
                <a:hlinkClick r:id="rId2"/>
              </a:rPr>
              <a:t>https://</a:t>
            </a:r>
            <a:r>
              <a:rPr lang="en-US" dirty="0" err="1">
                <a:hlinkClick r:id="rId2"/>
              </a:rPr>
              <a:t>cudl.lib.cam.ac.uk</a:t>
            </a:r>
            <a:r>
              <a:rPr lang="en-US" dirty="0">
                <a:hlinkClick r:id="rId2"/>
              </a:rPr>
              <a:t>/view/MS-ADD-10139/2</a:t>
            </a:r>
            <a:endParaRPr lang="en-US" dirty="0" smtClean="0"/>
          </a:p>
          <a:p>
            <a:r>
              <a:rPr lang="en-US" dirty="0" smtClean="0"/>
              <a:t>Isaac Newton’s ‘Waste Book’</a:t>
            </a:r>
          </a:p>
          <a:p>
            <a:r>
              <a:rPr lang="en-US" dirty="0">
                <a:hlinkClick r:id="rId3"/>
              </a:rPr>
              <a:t>https://</a:t>
            </a:r>
            <a:r>
              <a:rPr lang="en-US" dirty="0" err="1">
                <a:hlinkClick r:id="rId3"/>
              </a:rPr>
              <a:t>cudl.lib.cam.ac.uk</a:t>
            </a:r>
            <a:r>
              <a:rPr lang="en-US" dirty="0">
                <a:hlinkClick r:id="rId3"/>
              </a:rPr>
              <a:t>/view/MS-ADD-04004/1</a:t>
            </a:r>
            <a:endParaRPr lang="en-US" dirty="0"/>
          </a:p>
        </p:txBody>
      </p:sp>
    </p:spTree>
    <p:extLst>
      <p:ext uri="{BB962C8B-B14F-4D97-AF65-F5344CB8AC3E}">
        <p14:creationId xmlns:p14="http://schemas.microsoft.com/office/powerpoint/2010/main" val="179103635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objectDesc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handDesc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decoDesc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bindingDesc</a:t>
            </a:r>
            <a:r>
              <a:rPr lang="en-US" sz="3200" dirty="0" smtClean="0">
                <a:solidFill>
                  <a:schemeClr val="accent1"/>
                </a:solidFill>
              </a:rPr>
              <a:t>&gt;</a:t>
            </a:r>
          </a:p>
          <a:p>
            <a:pPr marL="0" lvl="0" indent="0">
              <a:lnSpc>
                <a:spcPct val="100000"/>
              </a:lnSpc>
              <a:spcBef>
                <a:spcPts val="0"/>
              </a:spcBef>
              <a:buNone/>
            </a:pPr>
            <a:r>
              <a:rPr lang="en-US" sz="3200" dirty="0">
                <a:solidFill>
                  <a:srgbClr val="FF0000"/>
                </a:solidFill>
              </a:rPr>
              <a:t>	</a:t>
            </a:r>
            <a:r>
              <a:rPr lang="en-US" sz="3200" dirty="0" smtClean="0">
                <a:solidFill>
                  <a:srgbClr val="FF0000"/>
                </a:solidFill>
              </a:rPr>
              <a:t>&lt;</a:t>
            </a:r>
            <a:r>
              <a:rPr lang="en-US" sz="3200" dirty="0" err="1" smtClean="0">
                <a:solidFill>
                  <a:srgbClr val="FF0000"/>
                </a:solidFill>
              </a:rPr>
              <a:t>sealDesc</a:t>
            </a:r>
            <a:r>
              <a:rPr lang="en-US" sz="3200" dirty="0" smtClean="0">
                <a:solidFill>
                  <a:srgbClr val="FF0000"/>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accMat</a:t>
            </a:r>
            <a:r>
              <a:rPr lang="en-US" sz="3200" dirty="0" smtClean="0">
                <a:solidFill>
                  <a:schemeClr val="accent1"/>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11188132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07773"/>
            <a:ext cx="10515600" cy="5769190"/>
          </a:xfrm>
        </p:spPr>
        <p:txBody>
          <a:bodyPr/>
          <a:lstStyle/>
          <a:p>
            <a:pPr marL="0" lvl="0" indent="0">
              <a:lnSpc>
                <a:spcPct val="100000"/>
              </a:lnSpc>
              <a:spcBef>
                <a:spcPts val="0"/>
              </a:spcBef>
              <a:buNone/>
            </a:pPr>
            <a:r>
              <a:rPr lang="en-US" dirty="0">
                <a:solidFill>
                  <a:schemeClr val="accent1"/>
                </a:solidFill>
              </a:rPr>
              <a:t>&lt;</a:t>
            </a:r>
            <a:r>
              <a:rPr lang="en-US" dirty="0" err="1">
                <a:solidFill>
                  <a:schemeClr val="accent1"/>
                </a:solidFill>
              </a:rPr>
              <a:t>sealDesc</a:t>
            </a:r>
            <a:r>
              <a:rPr lang="en-US" dirty="0">
                <a:solidFill>
                  <a:schemeClr val="accent1"/>
                </a:solidFill>
              </a:rPr>
              <a:t>&gt;</a:t>
            </a:r>
            <a:br>
              <a:rPr lang="en-US" dirty="0">
                <a:solidFill>
                  <a:schemeClr val="accent1"/>
                </a:solidFill>
              </a:rPr>
            </a:br>
            <a:r>
              <a:rPr lang="en-US" dirty="0">
                <a:solidFill>
                  <a:schemeClr val="accent1"/>
                </a:solidFill>
              </a:rPr>
              <a:t>	</a:t>
            </a:r>
            <a:r>
              <a:rPr lang="en-US" dirty="0" smtClean="0">
                <a:solidFill>
                  <a:schemeClr val="accent1"/>
                </a:solidFill>
              </a:rPr>
              <a:t>&lt;</a:t>
            </a:r>
            <a:r>
              <a:rPr lang="en-US" dirty="0">
                <a:solidFill>
                  <a:schemeClr val="accent1"/>
                </a:solidFill>
              </a:rPr>
              <a:t>seal type="pendant" contemporary="true"&gt;</a:t>
            </a:r>
            <a:br>
              <a:rPr lang="en-US" dirty="0">
                <a:solidFill>
                  <a:schemeClr val="accent1"/>
                </a:solidFill>
              </a:rPr>
            </a:br>
            <a:r>
              <a:rPr lang="en-US" dirty="0">
                <a:solidFill>
                  <a:schemeClr val="accent1"/>
                </a:solidFill>
              </a:rPr>
              <a:t>  </a:t>
            </a:r>
            <a:r>
              <a:rPr lang="en-US" dirty="0" smtClean="0">
                <a:solidFill>
                  <a:schemeClr val="accent1"/>
                </a:solidFill>
              </a:rPr>
              <a:t>		&lt;p&gt;</a:t>
            </a:r>
            <a:r>
              <a:rPr lang="en-US" dirty="0" smtClean="0"/>
              <a:t>Bears </a:t>
            </a:r>
            <a:r>
              <a:rPr lang="en-US" dirty="0"/>
              <a:t>a Great Seal (incomplete and repaired) on silk strings</a:t>
            </a:r>
            <a:r>
              <a:rPr lang="en-US" dirty="0" smtClean="0">
                <a:solidFill>
                  <a:schemeClr val="accent1"/>
                </a:solidFill>
              </a:rPr>
              <a:t>&lt;/</a:t>
            </a:r>
            <a:r>
              <a:rPr lang="en-US" dirty="0">
                <a:solidFill>
                  <a:schemeClr val="accent1"/>
                </a:solidFill>
              </a:rPr>
              <a:t>p&gt;</a:t>
            </a:r>
            <a:r>
              <a:rPr lang="en-US" dirty="0"/>
              <a:t/>
            </a:r>
            <a:br>
              <a:rPr lang="en-US" dirty="0"/>
            </a:br>
            <a:r>
              <a:rPr lang="en-US" dirty="0"/>
              <a:t>	</a:t>
            </a:r>
            <a:r>
              <a:rPr lang="en-US" dirty="0" smtClean="0">
                <a:solidFill>
                  <a:schemeClr val="accent1"/>
                </a:solidFill>
              </a:rPr>
              <a:t>&lt;/</a:t>
            </a:r>
            <a:r>
              <a:rPr lang="en-US" dirty="0">
                <a:solidFill>
                  <a:schemeClr val="accent1"/>
                </a:solidFill>
              </a:rPr>
              <a:t>seal&gt;</a:t>
            </a:r>
            <a:br>
              <a:rPr lang="en-US" dirty="0">
                <a:solidFill>
                  <a:schemeClr val="accent1"/>
                </a:solidFill>
              </a:rPr>
            </a:br>
            <a:r>
              <a:rPr lang="en-US" dirty="0">
                <a:solidFill>
                  <a:schemeClr val="accent1"/>
                </a:solidFill>
              </a:rPr>
              <a:t>&lt;/</a:t>
            </a:r>
            <a:r>
              <a:rPr lang="en-US" dirty="0" err="1">
                <a:solidFill>
                  <a:schemeClr val="accent1"/>
                </a:solidFill>
              </a:rPr>
              <a:t>sealDesc</a:t>
            </a:r>
            <a:r>
              <a:rPr lang="en-US" dirty="0">
                <a:solidFill>
                  <a:schemeClr val="accent1"/>
                </a:solidFill>
              </a:rPr>
              <a:t>&gt;</a:t>
            </a:r>
          </a:p>
        </p:txBody>
      </p:sp>
    </p:spTree>
    <p:extLst>
      <p:ext uri="{BB962C8B-B14F-4D97-AF65-F5344CB8AC3E}">
        <p14:creationId xmlns:p14="http://schemas.microsoft.com/office/powerpoint/2010/main" val="10057892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a:t>Charter of Edward I confirming the privileges of the University of Cambridge</a:t>
            </a:r>
          </a:p>
          <a:p>
            <a:r>
              <a:rPr lang="en-US" dirty="0">
                <a:hlinkClick r:id="rId2"/>
              </a:rPr>
              <a:t>https://</a:t>
            </a:r>
            <a:r>
              <a:rPr lang="en-US" dirty="0" err="1">
                <a:hlinkClick r:id="rId2"/>
              </a:rPr>
              <a:t>cudl.lib.cam.ac.uk</a:t>
            </a:r>
            <a:r>
              <a:rPr lang="en-US" dirty="0">
                <a:hlinkClick r:id="rId2"/>
              </a:rPr>
              <a:t>/view/MS-UA-LUARD-00007-AST/1</a:t>
            </a:r>
            <a:endParaRPr lang="en-US" dirty="0"/>
          </a:p>
        </p:txBody>
      </p:sp>
    </p:spTree>
    <p:extLst>
      <p:ext uri="{BB962C8B-B14F-4D97-AF65-F5344CB8AC3E}">
        <p14:creationId xmlns:p14="http://schemas.microsoft.com/office/powerpoint/2010/main" val="14906957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8351"/>
            <a:ext cx="10515600" cy="5708612"/>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objectDesc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handDesc</a:t>
            </a:r>
            <a:r>
              <a:rPr lang="en-US" sz="3200" dirty="0" smtClean="0">
                <a:solidFill>
                  <a:schemeClr val="accent1"/>
                </a:solidFill>
              </a:rPr>
              <a:t>&gt;</a:t>
            </a:r>
          </a:p>
          <a:p>
            <a:pPr mar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decoDesc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bindingDesc</a:t>
            </a:r>
            <a:r>
              <a:rPr lang="en-US" sz="3200" dirty="0" smtClean="0">
                <a:solidFill>
                  <a:schemeClr val="accent1"/>
                </a:solidFill>
              </a:rPr>
              <a:t>&gt;</a:t>
            </a:r>
          </a:p>
          <a:p>
            <a:pPr marL="0" lvl="0" indent="0">
              <a:lnSpc>
                <a:spcPct val="100000"/>
              </a:lnSpc>
              <a:spcBef>
                <a:spcPts val="0"/>
              </a:spcBef>
              <a:buNone/>
            </a:pPr>
            <a:r>
              <a:rPr lang="en-US" sz="3200" dirty="0">
                <a:solidFill>
                  <a:schemeClr val="accent1"/>
                </a:solidFill>
              </a:rPr>
              <a:t>	</a:t>
            </a:r>
            <a:r>
              <a:rPr lang="en-US" sz="3200" dirty="0" smtClean="0">
                <a:solidFill>
                  <a:schemeClr val="accent1"/>
                </a:solidFill>
              </a:rPr>
              <a:t>&lt;</a:t>
            </a:r>
            <a:r>
              <a:rPr lang="en-US" sz="3200" dirty="0" err="1" smtClean="0">
                <a:solidFill>
                  <a:schemeClr val="accent1"/>
                </a:solidFill>
              </a:rPr>
              <a:t>sealDesc</a:t>
            </a:r>
            <a:r>
              <a:rPr lang="en-US" sz="3200" dirty="0" smtClean="0">
                <a:solidFill>
                  <a:schemeClr val="accent1"/>
                </a:solidFill>
              </a:rPr>
              <a:t>&gt;</a:t>
            </a:r>
          </a:p>
          <a:p>
            <a:pPr marL="0" lvl="0" indent="0">
              <a:lnSpc>
                <a:spcPct val="100000"/>
              </a:lnSpc>
              <a:spcBef>
                <a:spcPts val="0"/>
              </a:spcBef>
              <a:buNone/>
            </a:pPr>
            <a:r>
              <a:rPr lang="en-US" sz="3200" dirty="0">
                <a:solidFill>
                  <a:srgbClr val="FF0000"/>
                </a:solidFill>
              </a:rPr>
              <a:t>	</a:t>
            </a:r>
            <a:r>
              <a:rPr lang="en-US" sz="3200" dirty="0" smtClean="0">
                <a:solidFill>
                  <a:srgbClr val="FF0000"/>
                </a:solidFill>
              </a:rPr>
              <a:t>&lt;</a:t>
            </a:r>
            <a:r>
              <a:rPr lang="en-US" sz="3200" dirty="0" err="1" smtClean="0">
                <a:solidFill>
                  <a:srgbClr val="FF0000"/>
                </a:solidFill>
              </a:rPr>
              <a:t>accMat</a:t>
            </a:r>
            <a:r>
              <a:rPr lang="en-US" sz="3200" dirty="0" smtClean="0">
                <a:solidFill>
                  <a:srgbClr val="FF0000"/>
                </a:solidFill>
              </a:rPr>
              <a:t>&gt;</a:t>
            </a:r>
          </a:p>
          <a:p>
            <a:pPr marL="0" lvl="0" indent="0">
              <a:lnSpc>
                <a:spcPct val="100000"/>
              </a:lnSpc>
              <a:spcBef>
                <a:spcPts val="0"/>
              </a:spcBef>
              <a:buNone/>
            </a:pPr>
            <a:r>
              <a:rPr lang="en-US" sz="3200" dirty="0" smtClean="0">
                <a:solidFill>
                  <a:schemeClr val="accent1"/>
                </a:solidFill>
              </a:rPr>
              <a:t>&lt;/</a:t>
            </a:r>
            <a:r>
              <a:rPr lang="en-US" sz="3200" dirty="0" err="1" smtClean="0">
                <a:solidFill>
                  <a:schemeClr val="accent1"/>
                </a:solidFill>
              </a:rPr>
              <a:t>physDesc</a:t>
            </a:r>
            <a:r>
              <a:rPr lang="en-US" sz="3200" dirty="0" smtClean="0">
                <a:solidFill>
                  <a:schemeClr val="accent1"/>
                </a:solidFill>
              </a:rPr>
              <a:t>&gt;</a:t>
            </a:r>
          </a:p>
          <a:p>
            <a:pPr marL="0" lvl="0" indent="0">
              <a:lnSpc>
                <a:spcPct val="100000"/>
              </a:lnSpc>
              <a:spcBef>
                <a:spcPts val="0"/>
              </a:spcBef>
              <a:buNone/>
            </a:pPr>
            <a:endParaRPr lang="en-US" sz="3200" dirty="0"/>
          </a:p>
        </p:txBody>
      </p:sp>
    </p:spTree>
    <p:extLst>
      <p:ext uri="{BB962C8B-B14F-4D97-AF65-F5344CB8AC3E}">
        <p14:creationId xmlns:p14="http://schemas.microsoft.com/office/powerpoint/2010/main" val="149249408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2486"/>
            <a:ext cx="10515600" cy="5744477"/>
          </a:xfrm>
        </p:spPr>
        <p:txBody>
          <a:bodyPr/>
          <a:lstStyle/>
          <a:p>
            <a:pPr marL="0" lvl="0" indent="0">
              <a:lnSpc>
                <a:spcPct val="100000"/>
              </a:lnSpc>
              <a:spcBef>
                <a:spcPts val="0"/>
              </a:spcBef>
              <a:buNone/>
            </a:pPr>
            <a:r>
              <a:rPr lang="en-US" dirty="0" smtClean="0">
                <a:solidFill>
                  <a:schemeClr val="accent1"/>
                </a:solidFill>
              </a:rPr>
              <a:t>&lt;</a:t>
            </a:r>
            <a:r>
              <a:rPr lang="en-US" dirty="0" err="1" smtClean="0">
                <a:solidFill>
                  <a:schemeClr val="accent1"/>
                </a:solidFill>
              </a:rPr>
              <a:t>accMat</a:t>
            </a:r>
            <a:r>
              <a:rPr lang="en-US" dirty="0" smtClean="0">
                <a:solidFill>
                  <a:schemeClr val="accent1"/>
                </a:solidFill>
              </a:rPr>
              <a:t>&gt;</a:t>
            </a:r>
          </a:p>
          <a:p>
            <a:pPr marL="0" lvl="0" indent="0">
              <a:lnSpc>
                <a:spcPct val="100000"/>
              </a:lnSpc>
              <a:spcBef>
                <a:spcPts val="0"/>
              </a:spcBef>
              <a:buNone/>
            </a:pPr>
            <a:r>
              <a:rPr lang="en-US" dirty="0"/>
              <a:t>	</a:t>
            </a:r>
            <a:r>
              <a:rPr lang="en-US" dirty="0" smtClean="0"/>
              <a:t>Enclosed </a:t>
            </a:r>
            <a:r>
              <a:rPr lang="en-US" dirty="0"/>
              <a:t>inside a small wooden </a:t>
            </a:r>
            <a:r>
              <a:rPr lang="en-US" dirty="0" smtClean="0"/>
              <a:t>pagoda</a:t>
            </a:r>
          </a:p>
          <a:p>
            <a:pPr marL="0" lvl="0" indent="0">
              <a:lnSpc>
                <a:spcPct val="100000"/>
              </a:lnSpc>
              <a:spcBef>
                <a:spcPts val="0"/>
              </a:spcBef>
              <a:buNone/>
            </a:pPr>
            <a:r>
              <a:rPr lang="en-US" dirty="0" smtClean="0">
                <a:solidFill>
                  <a:schemeClr val="accent1"/>
                </a:solidFill>
              </a:rPr>
              <a:t>&lt;/</a:t>
            </a:r>
            <a:r>
              <a:rPr lang="en-US" dirty="0" err="1" smtClean="0">
                <a:solidFill>
                  <a:schemeClr val="accent1"/>
                </a:solidFill>
              </a:rPr>
              <a:t>accMat</a:t>
            </a:r>
            <a:r>
              <a:rPr lang="en-US" dirty="0" smtClean="0">
                <a:solidFill>
                  <a:schemeClr val="accent1"/>
                </a:solidFill>
              </a:rPr>
              <a:t>&gt;</a:t>
            </a:r>
            <a:endParaRPr lang="en-US" dirty="0">
              <a:solidFill>
                <a:schemeClr val="accent1"/>
              </a:solidFill>
            </a:endParaRPr>
          </a:p>
        </p:txBody>
      </p:sp>
    </p:spTree>
    <p:extLst>
      <p:ext uri="{BB962C8B-B14F-4D97-AF65-F5344CB8AC3E}">
        <p14:creationId xmlns:p14="http://schemas.microsoft.com/office/powerpoint/2010/main" val="144540424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err="1"/>
              <a:t>Hyakumantō</a:t>
            </a:r>
            <a:r>
              <a:rPr lang="en-US" dirty="0"/>
              <a:t> </a:t>
            </a:r>
            <a:r>
              <a:rPr lang="en-US" dirty="0" err="1"/>
              <a:t>darani</a:t>
            </a:r>
            <a:endParaRPr lang="en-US" dirty="0"/>
          </a:p>
          <a:p>
            <a:r>
              <a:rPr lang="en-US" dirty="0">
                <a:hlinkClick r:id="rId2"/>
              </a:rPr>
              <a:t>https://</a:t>
            </a:r>
            <a:r>
              <a:rPr lang="en-US" dirty="0" err="1">
                <a:hlinkClick r:id="rId2"/>
              </a:rPr>
              <a:t>cudl.lib.cam.ac.uk</a:t>
            </a:r>
            <a:r>
              <a:rPr lang="en-US" dirty="0">
                <a:hlinkClick r:id="rId2"/>
              </a:rPr>
              <a:t>/view/PR-FG-00870/1</a:t>
            </a:r>
            <a:endParaRPr lang="en-US" dirty="0"/>
          </a:p>
        </p:txBody>
      </p:sp>
    </p:spTree>
    <p:extLst>
      <p:ext uri="{BB962C8B-B14F-4D97-AF65-F5344CB8AC3E}">
        <p14:creationId xmlns:p14="http://schemas.microsoft.com/office/powerpoint/2010/main" val="206530714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chemeClr val="accent1"/>
                </a:solidFill>
              </a:rPr>
              <a:t>&lt;</a:t>
            </a:r>
            <a:r>
              <a:rPr lang="en-US" sz="3600" dirty="0" err="1">
                <a:solidFill>
                  <a:schemeClr val="accent1"/>
                </a:solidFill>
              </a:rPr>
              <a:t>msIdentifier</a:t>
            </a:r>
            <a:r>
              <a:rPr lang="en-US" sz="3600" dirty="0">
                <a:solidFill>
                  <a:schemeClr val="accent1"/>
                </a:solidFill>
              </a:rPr>
              <a:t>&gt;</a:t>
            </a:r>
          </a:p>
          <a:p>
            <a:pPr marL="457200" lvl="1" indent="0">
              <a:buNone/>
            </a:pPr>
            <a:r>
              <a:rPr lang="en-US" sz="3600" dirty="0">
                <a:solidFill>
                  <a:schemeClr val="accent1"/>
                </a:solidFill>
              </a:rPr>
              <a:t>&lt;head&gt;</a:t>
            </a:r>
          </a:p>
          <a:p>
            <a:pPr marL="457200" lvl="1" indent="0">
              <a:buNone/>
            </a:pPr>
            <a:r>
              <a:rPr lang="en-US" sz="3600" dirty="0">
                <a:solidFill>
                  <a:schemeClr val="accent1"/>
                </a:solidFill>
              </a:rPr>
              <a:t>&lt;</a:t>
            </a:r>
            <a:r>
              <a:rPr lang="en-US" sz="3600" dirty="0" err="1">
                <a:solidFill>
                  <a:schemeClr val="accent1"/>
                </a:solidFill>
              </a:rPr>
              <a:t>msContents</a:t>
            </a:r>
            <a:r>
              <a:rPr lang="en-US" sz="3600" dirty="0">
                <a:solidFill>
                  <a:schemeClr val="accent1"/>
                </a:solidFill>
              </a:rPr>
              <a:t>&gt;</a:t>
            </a:r>
          </a:p>
          <a:p>
            <a:pPr marL="457200" lvl="1" indent="0">
              <a:buNone/>
            </a:pPr>
            <a:r>
              <a:rPr lang="en-US" sz="3600" dirty="0">
                <a:solidFill>
                  <a:schemeClr val="accent1"/>
                </a:solidFill>
              </a:rPr>
              <a:t>&lt;</a:t>
            </a:r>
            <a:r>
              <a:rPr lang="en-US" sz="3600" dirty="0" err="1">
                <a:solidFill>
                  <a:schemeClr val="accent1"/>
                </a:solidFill>
              </a:rPr>
              <a:t>physDesc</a:t>
            </a:r>
            <a:r>
              <a:rPr lang="en-US" sz="3600" dirty="0">
                <a:solidFill>
                  <a:schemeClr val="accent1"/>
                </a:solidFill>
              </a:rPr>
              <a:t>&gt;</a:t>
            </a:r>
          </a:p>
          <a:p>
            <a:pPr marL="457200" lvl="1" indent="0">
              <a:buNone/>
            </a:pPr>
            <a:r>
              <a:rPr lang="en-US" sz="3600" dirty="0">
                <a:solidFill>
                  <a:srgbClr val="FF0000"/>
                </a:solidFill>
              </a:rPr>
              <a:t>&lt;history&gt;</a:t>
            </a:r>
          </a:p>
          <a:p>
            <a:pPr marL="457200" lvl="1" indent="0">
              <a:buNone/>
            </a:pPr>
            <a:r>
              <a:rPr lang="en-US" sz="3600" dirty="0">
                <a:solidFill>
                  <a:srgbClr val="0070C0"/>
                </a:solidFill>
              </a:rPr>
              <a:t>&lt;additional</a:t>
            </a:r>
            <a:r>
              <a:rPr lang="en-US" sz="3600" dirty="0" smtClean="0">
                <a:solidFill>
                  <a:srgbClr val="0070C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19844701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&lt;history&gt;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Where it comes from, where it’s been, and how it ended up here</a:t>
            </a:r>
            <a:endParaRPr lang="en-US" dirty="0"/>
          </a:p>
        </p:txBody>
      </p:sp>
    </p:spTree>
    <p:extLst>
      <p:ext uri="{BB962C8B-B14F-4D97-AF65-F5344CB8AC3E}">
        <p14:creationId xmlns:p14="http://schemas.microsoft.com/office/powerpoint/2010/main" val="156250368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5162"/>
            <a:ext cx="10515600" cy="5651801"/>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&lt;history&gt;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&lt;origin&gt;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t>
            </a:r>
            <a:r>
              <a:rPr lang="en-US" dirty="0" err="1" smtClean="0">
                <a:solidFill>
                  <a:schemeClr val="accent1"/>
                </a:solidFill>
              </a:rPr>
              <a:t>origDate</a:t>
            </a:r>
            <a:r>
              <a:rPr lang="en-US" dirty="0" smtClean="0">
                <a:solidFill>
                  <a:schemeClr val="accent1"/>
                </a:solidFill>
              </a:rPr>
              <a:t>&gt;&lt;/</a:t>
            </a:r>
            <a:r>
              <a:rPr lang="en-US" dirty="0" err="1" smtClean="0">
                <a:solidFill>
                  <a:schemeClr val="accent1"/>
                </a:solidFill>
              </a:rPr>
              <a:t>origDate</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t>
            </a:r>
            <a:r>
              <a:rPr lang="en-US" dirty="0" err="1" smtClean="0">
                <a:solidFill>
                  <a:schemeClr val="accent1"/>
                </a:solidFill>
              </a:rPr>
              <a:t>origPlace</a:t>
            </a:r>
            <a:r>
              <a:rPr lang="en-US" dirty="0" smtClean="0">
                <a:solidFill>
                  <a:schemeClr val="accent1"/>
                </a:solidFill>
              </a:rPr>
              <a:t>&gt;&lt;/</a:t>
            </a:r>
            <a:r>
              <a:rPr lang="en-US" dirty="0" err="1" smtClean="0">
                <a:solidFill>
                  <a:schemeClr val="accent1"/>
                </a:solidFill>
              </a:rPr>
              <a:t>origPlace</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&lt;/origin&gt;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&lt;provenance&gt;&lt;/provenance&gt;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&lt;acquisition&gt;&lt;/acquisition&gt;</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&lt;/history&gt;</a:t>
            </a:r>
            <a:endParaRPr lang="en-US" dirty="0">
              <a:solidFill>
                <a:schemeClr val="accent1"/>
              </a:solidFill>
            </a:endParaRPr>
          </a:p>
        </p:txBody>
      </p:sp>
    </p:spTree>
    <p:extLst>
      <p:ext uri="{BB962C8B-B14F-4D97-AF65-F5344CB8AC3E}">
        <p14:creationId xmlns:p14="http://schemas.microsoft.com/office/powerpoint/2010/main" val="1948568346"/>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13951"/>
            <a:ext cx="10515600" cy="5763012"/>
          </a:xfrm>
        </p:spPr>
        <p:txBody>
          <a:bodyPr/>
          <a:lstStyle/>
          <a:p>
            <a:pPr marL="0" indent="0">
              <a:buNone/>
            </a:pPr>
            <a:r>
              <a:rPr lang="en-US" dirty="0">
                <a:solidFill>
                  <a:schemeClr val="accent1"/>
                </a:solidFill>
              </a:rPr>
              <a:t>&lt;origin&gt;</a:t>
            </a:r>
          </a:p>
          <a:p>
            <a:pPr marL="0" indent="0">
              <a:buNone/>
            </a:pPr>
            <a:r>
              <a:rPr lang="en-US" dirty="0" smtClean="0">
                <a:solidFill>
                  <a:schemeClr val="accent1"/>
                </a:solidFill>
              </a:rPr>
              <a:t>	&lt;</a:t>
            </a:r>
            <a:r>
              <a:rPr lang="en-US" dirty="0" err="1" smtClean="0">
                <a:solidFill>
                  <a:schemeClr val="accent1"/>
                </a:solidFill>
              </a:rPr>
              <a:t>origDate</a:t>
            </a:r>
            <a:r>
              <a:rPr lang="en-US" dirty="0">
                <a:solidFill>
                  <a:schemeClr val="accent1"/>
                </a:solidFill>
              </a:rPr>
              <a:t> calendar="Gregorian" </a:t>
            </a:r>
            <a:r>
              <a:rPr lang="en-US" dirty="0" smtClean="0">
                <a:solidFill>
                  <a:schemeClr val="accent1"/>
                </a:solidFill>
              </a:rPr>
              <a:t>when="</a:t>
            </a:r>
            <a:r>
              <a:rPr lang="en-US" dirty="0">
                <a:solidFill>
                  <a:schemeClr val="accent1"/>
                </a:solidFill>
              </a:rPr>
              <a:t>1775</a:t>
            </a:r>
            <a:r>
              <a:rPr lang="en-US" dirty="0" smtClean="0">
                <a:solidFill>
                  <a:schemeClr val="accent1"/>
                </a:solidFill>
              </a:rPr>
              <a:t>"&gt;</a:t>
            </a:r>
            <a:r>
              <a:rPr lang="en-US" dirty="0"/>
              <a:t>ca 1775</a:t>
            </a:r>
            <a:r>
              <a:rPr lang="en-US" dirty="0" smtClean="0">
                <a:solidFill>
                  <a:schemeClr val="accent1"/>
                </a:solidFill>
              </a:rPr>
              <a:t>&lt;/</a:t>
            </a:r>
            <a:r>
              <a:rPr lang="en-US" dirty="0" err="1" smtClean="0">
                <a:solidFill>
                  <a:schemeClr val="accent1"/>
                </a:solidFill>
              </a:rPr>
              <a:t>origDate</a:t>
            </a:r>
            <a:r>
              <a:rPr lang="en-US" dirty="0">
                <a:solidFill>
                  <a:schemeClr val="accent1"/>
                </a:solidFill>
              </a:rPr>
              <a:t>&gt;</a:t>
            </a:r>
          </a:p>
          <a:p>
            <a:pPr marL="0" indent="0">
              <a:buNone/>
            </a:pPr>
            <a:r>
              <a:rPr lang="en-US" dirty="0" smtClean="0">
                <a:solidFill>
                  <a:schemeClr val="accent1"/>
                </a:solidFill>
              </a:rPr>
              <a:t>	&lt;</a:t>
            </a:r>
            <a:r>
              <a:rPr lang="en-US" dirty="0" err="1" smtClean="0">
                <a:solidFill>
                  <a:schemeClr val="accent1"/>
                </a:solidFill>
              </a:rPr>
              <a:t>origPlace</a:t>
            </a:r>
            <a:r>
              <a:rPr lang="en-US" dirty="0" smtClean="0">
                <a:solidFill>
                  <a:schemeClr val="accent1"/>
                </a:solidFill>
              </a:rPr>
              <a:t>&gt;</a:t>
            </a:r>
            <a:r>
              <a:rPr lang="en-US" dirty="0" smtClean="0"/>
              <a:t>London</a:t>
            </a:r>
            <a:r>
              <a:rPr lang="en-US" dirty="0">
                <a:solidFill>
                  <a:schemeClr val="accent1"/>
                </a:solidFill>
              </a:rPr>
              <a:t>&lt;/</a:t>
            </a:r>
            <a:r>
              <a:rPr lang="en-US" dirty="0" err="1">
                <a:solidFill>
                  <a:schemeClr val="accent1"/>
                </a:solidFill>
              </a:rPr>
              <a:t>origPlace</a:t>
            </a:r>
            <a:r>
              <a:rPr lang="en-US" dirty="0">
                <a:solidFill>
                  <a:schemeClr val="accent1"/>
                </a:solidFill>
              </a:rPr>
              <a:t>&gt;</a:t>
            </a:r>
          </a:p>
          <a:p>
            <a:pPr marL="0" indent="0">
              <a:buNone/>
            </a:pPr>
            <a:r>
              <a:rPr lang="en-US" dirty="0">
                <a:solidFill>
                  <a:schemeClr val="accent1"/>
                </a:solidFill>
              </a:rPr>
              <a:t>&lt;/origin</a:t>
            </a:r>
            <a:r>
              <a:rPr lang="en-US" dirty="0" smtClean="0">
                <a:solidFill>
                  <a:schemeClr val="accent1"/>
                </a:solidFill>
              </a:rPr>
              <a:t>&gt;</a:t>
            </a:r>
          </a:p>
          <a:p>
            <a:pPr marL="0" indent="0">
              <a:buNone/>
            </a:pPr>
            <a:endParaRPr lang="en-US" dirty="0">
              <a:solidFill>
                <a:schemeClr val="accent1"/>
              </a:solidFill>
            </a:endParaRPr>
          </a:p>
          <a:p>
            <a:pPr marL="0" indent="0">
              <a:buNone/>
            </a:pPr>
            <a:r>
              <a:rPr lang="en-US" dirty="0">
                <a:solidFill>
                  <a:schemeClr val="accent1"/>
                </a:solidFill>
              </a:rPr>
              <a:t>&lt;origin&gt;</a:t>
            </a:r>
          </a:p>
          <a:p>
            <a:pPr marL="0" indent="0">
              <a:buNone/>
            </a:pPr>
            <a:r>
              <a:rPr lang="en-US" dirty="0">
                <a:solidFill>
                  <a:schemeClr val="accent1"/>
                </a:solidFill>
              </a:rPr>
              <a:t>	</a:t>
            </a:r>
            <a:r>
              <a:rPr lang="en-US" dirty="0" smtClean="0">
                <a:solidFill>
                  <a:schemeClr val="accent1"/>
                </a:solidFill>
              </a:rPr>
              <a:t>&lt;p&gt;</a:t>
            </a:r>
            <a:r>
              <a:rPr lang="en-US" dirty="0" smtClean="0"/>
              <a:t>Probably copied in the  </a:t>
            </a:r>
            <a:r>
              <a:rPr lang="en-US" dirty="0" smtClean="0">
                <a:solidFill>
                  <a:schemeClr val="accent1"/>
                </a:solidFill>
              </a:rPr>
              <a:t>&lt;</a:t>
            </a:r>
            <a:r>
              <a:rPr lang="en-US" dirty="0" err="1" smtClean="0">
                <a:solidFill>
                  <a:schemeClr val="accent1"/>
                </a:solidFill>
              </a:rPr>
              <a:t>origDate</a:t>
            </a:r>
            <a:r>
              <a:rPr lang="en-US" dirty="0">
                <a:solidFill>
                  <a:schemeClr val="accent1"/>
                </a:solidFill>
              </a:rPr>
              <a:t> calendar="Gregorian" </a:t>
            </a:r>
            <a:r>
              <a:rPr lang="en-US" dirty="0" err="1" smtClean="0">
                <a:solidFill>
                  <a:schemeClr val="accent1"/>
                </a:solidFill>
              </a:rPr>
              <a:t>notBefore</a:t>
            </a:r>
            <a:r>
              <a:rPr lang="en-US" dirty="0" smtClean="0">
                <a:solidFill>
                  <a:schemeClr val="accent1"/>
                </a:solidFill>
              </a:rPr>
              <a:t>="1100</a:t>
            </a:r>
            <a:r>
              <a:rPr lang="en-US" dirty="0">
                <a:solidFill>
                  <a:schemeClr val="accent1"/>
                </a:solidFill>
              </a:rPr>
              <a:t>"</a:t>
            </a:r>
            <a:r>
              <a:rPr lang="en-US" dirty="0" smtClean="0">
                <a:solidFill>
                  <a:schemeClr val="accent1"/>
                </a:solidFill>
              </a:rPr>
              <a:t> </a:t>
            </a:r>
            <a:r>
              <a:rPr lang="en-US" dirty="0" err="1" smtClean="0">
                <a:solidFill>
                  <a:schemeClr val="accent1"/>
                </a:solidFill>
              </a:rPr>
              <a:t>notAfter</a:t>
            </a:r>
            <a:r>
              <a:rPr lang="en-US" dirty="0" smtClean="0">
                <a:solidFill>
                  <a:schemeClr val="accent1"/>
                </a:solidFill>
              </a:rPr>
              <a:t>=</a:t>
            </a:r>
            <a:r>
              <a:rPr lang="en-US" dirty="0">
                <a:solidFill>
                  <a:schemeClr val="accent1"/>
                </a:solidFill>
              </a:rPr>
              <a:t>"</a:t>
            </a:r>
            <a:r>
              <a:rPr lang="en-US" dirty="0" smtClean="0">
                <a:solidFill>
                  <a:schemeClr val="accent1"/>
                </a:solidFill>
              </a:rPr>
              <a:t>1199</a:t>
            </a:r>
            <a:r>
              <a:rPr lang="en-US" dirty="0">
                <a:solidFill>
                  <a:schemeClr val="accent1"/>
                </a:solidFill>
              </a:rPr>
              <a:t>"</a:t>
            </a:r>
            <a:r>
              <a:rPr lang="en-US" dirty="0" smtClean="0">
                <a:solidFill>
                  <a:schemeClr val="accent1"/>
                </a:solidFill>
              </a:rPr>
              <a:t>&gt;</a:t>
            </a:r>
            <a:r>
              <a:rPr lang="en-US" dirty="0" smtClean="0"/>
              <a:t>12</a:t>
            </a:r>
            <a:r>
              <a:rPr lang="en-US" baseline="30000" dirty="0" smtClean="0"/>
              <a:t>th</a:t>
            </a:r>
            <a:r>
              <a:rPr lang="en-US" dirty="0" smtClean="0"/>
              <a:t> century</a:t>
            </a:r>
            <a:r>
              <a:rPr lang="en-US" dirty="0" smtClean="0">
                <a:solidFill>
                  <a:schemeClr val="accent1"/>
                </a:solidFill>
              </a:rPr>
              <a:t>&lt;/</a:t>
            </a:r>
            <a:r>
              <a:rPr lang="en-US" dirty="0" err="1" smtClean="0">
                <a:solidFill>
                  <a:schemeClr val="accent1"/>
                </a:solidFill>
              </a:rPr>
              <a:t>origDate</a:t>
            </a:r>
            <a:r>
              <a:rPr lang="en-US" dirty="0" smtClean="0">
                <a:solidFill>
                  <a:schemeClr val="accent1"/>
                </a:solidFill>
              </a:rPr>
              <a:t>&gt; </a:t>
            </a:r>
            <a:r>
              <a:rPr lang="en-US" dirty="0" smtClean="0"/>
              <a:t>in</a:t>
            </a:r>
            <a:r>
              <a:rPr lang="en-US" dirty="0" smtClean="0">
                <a:solidFill>
                  <a:schemeClr val="accent1"/>
                </a:solidFill>
              </a:rPr>
              <a:t> &lt;</a:t>
            </a:r>
            <a:r>
              <a:rPr lang="en-US" dirty="0" err="1" smtClean="0">
                <a:solidFill>
                  <a:schemeClr val="accent1"/>
                </a:solidFill>
              </a:rPr>
              <a:t>origPlace</a:t>
            </a:r>
            <a:r>
              <a:rPr lang="en-US" dirty="0" smtClean="0">
                <a:solidFill>
                  <a:schemeClr val="accent1"/>
                </a:solidFill>
              </a:rPr>
              <a:t>&gt;</a:t>
            </a:r>
            <a:r>
              <a:rPr lang="en-US" dirty="0" smtClean="0"/>
              <a:t>London</a:t>
            </a:r>
            <a:r>
              <a:rPr lang="en-US" dirty="0">
                <a:solidFill>
                  <a:schemeClr val="accent1"/>
                </a:solidFill>
              </a:rPr>
              <a:t>&lt;/</a:t>
            </a:r>
            <a:r>
              <a:rPr lang="en-US" dirty="0" err="1">
                <a:solidFill>
                  <a:schemeClr val="accent1"/>
                </a:solidFill>
              </a:rPr>
              <a:t>origPlace</a:t>
            </a:r>
            <a:r>
              <a:rPr lang="en-US" dirty="0" smtClean="0">
                <a:solidFill>
                  <a:schemeClr val="accent1"/>
                </a:solidFill>
              </a:rPr>
              <a:t>&gt;&lt;/p&gt;</a:t>
            </a:r>
            <a:endParaRPr lang="en-US" dirty="0">
              <a:solidFill>
                <a:schemeClr val="accent1"/>
              </a:solidFill>
            </a:endParaRPr>
          </a:p>
          <a:p>
            <a:pPr marL="0" indent="0">
              <a:buNone/>
            </a:pPr>
            <a:r>
              <a:rPr lang="en-US" dirty="0">
                <a:solidFill>
                  <a:schemeClr val="accent1"/>
                </a:solidFill>
              </a:rPr>
              <a:t>&lt;/origin&gt;</a:t>
            </a:r>
          </a:p>
          <a:p>
            <a:pPr marL="0" indent="0">
              <a:buNone/>
            </a:pPr>
            <a:endParaRPr lang="en-US" dirty="0">
              <a:solidFill>
                <a:schemeClr val="accent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02335273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A correct globe with the new discoveries</a:t>
            </a:r>
          </a:p>
          <a:p>
            <a:r>
              <a:rPr lang="en-US" dirty="0">
                <a:hlinkClick r:id="rId2"/>
              </a:rPr>
              <a:t>https://</a:t>
            </a:r>
            <a:r>
              <a:rPr lang="en-US" dirty="0" err="1">
                <a:hlinkClick r:id="rId2"/>
              </a:rPr>
              <a:t>cudl.lib.cam.ac.uk</a:t>
            </a:r>
            <a:r>
              <a:rPr lang="en-US" dirty="0">
                <a:hlinkClick r:id="rId2"/>
              </a:rPr>
              <a:t>/view/MS-ORCS-00001-00001/1</a:t>
            </a:r>
            <a:endParaRPr lang="en-US" dirty="0"/>
          </a:p>
        </p:txBody>
      </p:sp>
    </p:spTree>
    <p:extLst>
      <p:ext uri="{BB962C8B-B14F-4D97-AF65-F5344CB8AC3E}">
        <p14:creationId xmlns:p14="http://schemas.microsoft.com/office/powerpoint/2010/main" val="8306081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1022"/>
            <a:ext cx="10515600" cy="5725941"/>
          </a:xfrm>
        </p:spPr>
        <p:txBody>
          <a:bodyPr>
            <a:normAutofit/>
          </a:bodyPr>
          <a:lstStyle/>
          <a:p>
            <a:pPr marL="0" indent="0">
              <a:buNone/>
            </a:pPr>
            <a:r>
              <a:rPr lang="en-US" dirty="0">
                <a:solidFill>
                  <a:schemeClr val="accent1"/>
                </a:solidFill>
              </a:rPr>
              <a:t>&lt;</a:t>
            </a:r>
            <a:r>
              <a:rPr lang="en-US" dirty="0" smtClean="0">
                <a:solidFill>
                  <a:schemeClr val="accent1"/>
                </a:solidFill>
              </a:rPr>
              <a:t>provenance&gt;</a:t>
            </a:r>
            <a:r>
              <a:rPr lang="en-US" dirty="0" smtClean="0"/>
              <a:t>The </a:t>
            </a:r>
            <a:r>
              <a:rPr lang="en-US" dirty="0"/>
              <a:t>exact movements of Samuel Ward's papers after his death has not yet been ascertained with complete certainty. The following, tentative summary of their provenance is drawn from Margo Todd's 1985 article; MS Ward B may well have followed this route into the archives at Sidney Sussex College, though as yet we lack definitive proof</a:t>
            </a:r>
            <a:r>
              <a:rPr lang="en-US" dirty="0" smtClean="0"/>
              <a:t>.</a:t>
            </a:r>
            <a:r>
              <a:rPr lang="en-US" dirty="0" smtClean="0">
                <a:solidFill>
                  <a:schemeClr val="accent1"/>
                </a:solidFill>
              </a:rPr>
              <a:t>&lt;/provenance&gt;</a:t>
            </a:r>
          </a:p>
          <a:p>
            <a:pPr marL="0" indent="0">
              <a:buNone/>
            </a:pPr>
            <a:r>
              <a:rPr lang="en-US" dirty="0" smtClean="0">
                <a:solidFill>
                  <a:schemeClr val="accent1"/>
                </a:solidFill>
              </a:rPr>
              <a:t>&lt;provenance&gt;</a:t>
            </a:r>
            <a:r>
              <a:rPr lang="en-US" dirty="0" smtClean="0"/>
              <a:t>In </a:t>
            </a:r>
            <a:r>
              <a:rPr lang="en-US" dirty="0"/>
              <a:t>his will, Ward instructed that, 'for the ordering of my study and the disposal of my notes, papers, manuscripts and all my writings, I do wholly </a:t>
            </a:r>
            <a:r>
              <a:rPr lang="en-US" dirty="0" smtClean="0"/>
              <a:t>entrust </a:t>
            </a:r>
            <a:r>
              <a:rPr lang="en-US" dirty="0" smtClean="0">
                <a:solidFill>
                  <a:schemeClr val="accent1"/>
                </a:solidFill>
              </a:rPr>
              <a:t>&lt;</a:t>
            </a:r>
            <a:r>
              <a:rPr lang="en-US" dirty="0">
                <a:solidFill>
                  <a:schemeClr val="accent1"/>
                </a:solidFill>
              </a:rPr>
              <a:t>name type="person" ref="http://</a:t>
            </a:r>
            <a:r>
              <a:rPr lang="en-US" dirty="0" err="1">
                <a:solidFill>
                  <a:schemeClr val="accent1"/>
                </a:solidFill>
              </a:rPr>
              <a:t>viaf.org</a:t>
            </a:r>
            <a:r>
              <a:rPr lang="en-US" dirty="0">
                <a:solidFill>
                  <a:schemeClr val="accent1"/>
                </a:solidFill>
              </a:rPr>
              <a:t>/</a:t>
            </a:r>
            <a:r>
              <a:rPr lang="en-US" dirty="0" err="1">
                <a:solidFill>
                  <a:schemeClr val="accent1"/>
                </a:solidFill>
              </a:rPr>
              <a:t>viaf</a:t>
            </a:r>
            <a:r>
              <a:rPr lang="en-US" dirty="0">
                <a:solidFill>
                  <a:schemeClr val="accent1"/>
                </a:solidFill>
              </a:rPr>
              <a:t>/23226169" subtype="</a:t>
            </a:r>
            <a:r>
              <a:rPr lang="en-US" dirty="0" err="1">
                <a:solidFill>
                  <a:schemeClr val="accent1"/>
                </a:solidFill>
              </a:rPr>
              <a:t>fmo</a:t>
            </a:r>
            <a:r>
              <a:rPr lang="en-US" dirty="0" smtClean="0">
                <a:solidFill>
                  <a:schemeClr val="accent1"/>
                </a:solidFill>
              </a:rPr>
              <a:t>"&gt;</a:t>
            </a:r>
            <a:r>
              <a:rPr lang="en-US" dirty="0" err="1" smtClean="0"/>
              <a:t>Raph</a:t>
            </a:r>
            <a:r>
              <a:rPr lang="en-US" dirty="0" smtClean="0"/>
              <a:t> </a:t>
            </a:r>
            <a:r>
              <a:rPr lang="en-US" dirty="0"/>
              <a:t>Bishop of Exeter</a:t>
            </a:r>
            <a:r>
              <a:rPr lang="en-US" dirty="0" smtClean="0">
                <a:solidFill>
                  <a:schemeClr val="accent1"/>
                </a:solidFill>
              </a:rPr>
              <a:t>&lt;/name&gt;</a:t>
            </a:r>
            <a:r>
              <a:rPr lang="en-US" dirty="0"/>
              <a:t> </a:t>
            </a:r>
            <a:r>
              <a:rPr lang="en-US" dirty="0" smtClean="0"/>
              <a:t>now </a:t>
            </a:r>
            <a:r>
              <a:rPr lang="en-US" dirty="0"/>
              <a:t>Master of Catherine Hall with them</a:t>
            </a:r>
            <a:r>
              <a:rPr lang="en-US" dirty="0" smtClean="0"/>
              <a:t>.'</a:t>
            </a:r>
            <a:r>
              <a:rPr lang="en-US" dirty="0" smtClean="0">
                <a:solidFill>
                  <a:schemeClr val="accent1"/>
                </a:solidFill>
              </a:rPr>
              <a:t>&lt;/provenance&gt;</a:t>
            </a:r>
            <a:endParaRPr lang="en-US" dirty="0">
              <a:solidFill>
                <a:schemeClr val="accent1"/>
              </a:solidFill>
            </a:endParaRPr>
          </a:p>
          <a:p>
            <a:pPr marL="0" indent="0">
              <a:lnSpc>
                <a:spcPct val="100000"/>
              </a:lnSpc>
              <a:spcBef>
                <a:spcPts val="0"/>
              </a:spcBef>
              <a:buNone/>
            </a:pPr>
            <a:endParaRPr lang="en-US" dirty="0"/>
          </a:p>
        </p:txBody>
      </p:sp>
    </p:spTree>
    <p:extLst>
      <p:ext uri="{BB962C8B-B14F-4D97-AF65-F5344CB8AC3E}">
        <p14:creationId xmlns:p14="http://schemas.microsoft.com/office/powerpoint/2010/main" val="200776023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Samuel Ward Notebook</a:t>
            </a:r>
          </a:p>
          <a:p>
            <a:r>
              <a:rPr lang="en-US" dirty="0">
                <a:hlinkClick r:id="rId2"/>
              </a:rPr>
              <a:t>https://</a:t>
            </a:r>
            <a:r>
              <a:rPr lang="en-US" dirty="0" err="1">
                <a:hlinkClick r:id="rId2"/>
              </a:rPr>
              <a:t>cudl.lib.cam.ac.uk</a:t>
            </a:r>
            <a:r>
              <a:rPr lang="en-US" dirty="0">
                <a:hlinkClick r:id="rId2"/>
              </a:rPr>
              <a:t>/view/MS-WARD-B/5</a:t>
            </a:r>
            <a:endParaRPr lang="en-US" dirty="0"/>
          </a:p>
        </p:txBody>
      </p:sp>
    </p:spTree>
    <p:extLst>
      <p:ext uri="{BB962C8B-B14F-4D97-AF65-F5344CB8AC3E}">
        <p14:creationId xmlns:p14="http://schemas.microsoft.com/office/powerpoint/2010/main" val="185888804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90654"/>
            <a:ext cx="10515600" cy="5686309"/>
          </a:xfrm>
        </p:spPr>
        <p:txBody>
          <a:bodyPr>
            <a:normAutofit/>
          </a:bodyPr>
          <a:lstStyle/>
          <a:p>
            <a:pPr marL="0" indent="0">
              <a:lnSpc>
                <a:spcPct val="100000"/>
              </a:lnSpc>
              <a:spcBef>
                <a:spcPts val="0"/>
              </a:spcBef>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p>
          <a:p>
            <a:pPr marL="457200" lvl="1" indent="0">
              <a:buNone/>
            </a:pPr>
            <a:r>
              <a:rPr lang="en-US" sz="3600" dirty="0">
                <a:solidFill>
                  <a:schemeClr val="accent1"/>
                </a:solidFill>
              </a:rPr>
              <a:t>&lt;</a:t>
            </a:r>
            <a:r>
              <a:rPr lang="en-US" sz="3600" dirty="0" err="1">
                <a:solidFill>
                  <a:schemeClr val="accent1"/>
                </a:solidFill>
              </a:rPr>
              <a:t>msIdentifier</a:t>
            </a:r>
            <a:r>
              <a:rPr lang="en-US" sz="3600" dirty="0">
                <a:solidFill>
                  <a:schemeClr val="accent1"/>
                </a:solidFill>
              </a:rPr>
              <a:t>&gt;</a:t>
            </a:r>
          </a:p>
          <a:p>
            <a:pPr marL="457200" lvl="1" indent="0">
              <a:buNone/>
            </a:pPr>
            <a:r>
              <a:rPr lang="en-US" sz="3600" dirty="0">
                <a:solidFill>
                  <a:schemeClr val="accent1"/>
                </a:solidFill>
              </a:rPr>
              <a:t>&lt;head&gt;</a:t>
            </a:r>
          </a:p>
          <a:p>
            <a:pPr marL="457200" lvl="1" indent="0">
              <a:buNone/>
            </a:pPr>
            <a:r>
              <a:rPr lang="en-US" sz="3600" dirty="0">
                <a:solidFill>
                  <a:schemeClr val="accent1"/>
                </a:solidFill>
              </a:rPr>
              <a:t>&lt;</a:t>
            </a:r>
            <a:r>
              <a:rPr lang="en-US" sz="3600" dirty="0" err="1">
                <a:solidFill>
                  <a:schemeClr val="accent1"/>
                </a:solidFill>
              </a:rPr>
              <a:t>msContents</a:t>
            </a:r>
            <a:r>
              <a:rPr lang="en-US" sz="3600" dirty="0">
                <a:solidFill>
                  <a:schemeClr val="accent1"/>
                </a:solidFill>
              </a:rPr>
              <a:t>&gt;</a:t>
            </a:r>
          </a:p>
          <a:p>
            <a:pPr marL="457200" lvl="1" indent="0">
              <a:buNone/>
            </a:pPr>
            <a:r>
              <a:rPr lang="en-US" sz="3600" dirty="0">
                <a:solidFill>
                  <a:schemeClr val="accent1"/>
                </a:solidFill>
              </a:rPr>
              <a:t>&lt;</a:t>
            </a:r>
            <a:r>
              <a:rPr lang="en-US" sz="3600" dirty="0" err="1">
                <a:solidFill>
                  <a:schemeClr val="accent1"/>
                </a:solidFill>
              </a:rPr>
              <a:t>physDesc</a:t>
            </a:r>
            <a:r>
              <a:rPr lang="en-US" sz="3600" dirty="0">
                <a:solidFill>
                  <a:schemeClr val="accent1"/>
                </a:solidFill>
              </a:rPr>
              <a:t>&gt;</a:t>
            </a:r>
          </a:p>
          <a:p>
            <a:pPr marL="457200" lvl="1" indent="0">
              <a:buNone/>
            </a:pPr>
            <a:r>
              <a:rPr lang="en-US" sz="3600" dirty="0">
                <a:solidFill>
                  <a:srgbClr val="0070C0"/>
                </a:solidFill>
              </a:rPr>
              <a:t>&lt;history&gt;</a:t>
            </a:r>
          </a:p>
          <a:p>
            <a:pPr marL="457200" lvl="1" indent="0">
              <a:buNone/>
            </a:pPr>
            <a:r>
              <a:rPr lang="en-US" sz="3600" dirty="0">
                <a:solidFill>
                  <a:srgbClr val="FF0000"/>
                </a:solidFill>
              </a:rPr>
              <a:t>&lt;additional</a:t>
            </a:r>
            <a:r>
              <a:rPr lang="en-US" sz="3600" dirty="0" smtClean="0">
                <a:solidFill>
                  <a:srgbClr val="FF0000"/>
                </a:solidFill>
              </a:rPr>
              <a:t>&gt;</a:t>
            </a:r>
          </a:p>
          <a:p>
            <a:pPr marL="0" indent="0">
              <a:buNone/>
            </a:pPr>
            <a:r>
              <a:rPr lang="en-US" sz="3600" dirty="0" smtClean="0">
                <a:solidFill>
                  <a:srgbClr val="0070C0"/>
                </a:solidFill>
              </a:rPr>
              <a:t>&lt;/</a:t>
            </a:r>
            <a:r>
              <a:rPr lang="en-US" sz="3600" dirty="0" err="1" smtClean="0">
                <a:solidFill>
                  <a:srgbClr val="0070C0"/>
                </a:solidFill>
              </a:rPr>
              <a:t>msDesc</a:t>
            </a:r>
            <a:r>
              <a:rPr lang="en-US" sz="3600" dirty="0" smtClean="0">
                <a:solidFill>
                  <a:srgbClr val="0070C0"/>
                </a:solidFill>
              </a:rPr>
              <a:t>&gt;</a:t>
            </a:r>
            <a:endParaRPr lang="en-US" sz="3600" dirty="0">
              <a:solidFill>
                <a:srgbClr val="0070C0"/>
              </a:solidFill>
            </a:endParaRPr>
          </a:p>
          <a:p>
            <a:pPr marL="0" indent="0">
              <a:lnSpc>
                <a:spcPct val="100000"/>
              </a:lnSpc>
              <a:spcBef>
                <a:spcPts val="0"/>
              </a:spcBef>
              <a:buNone/>
            </a:pPr>
            <a:endParaRPr lang="en-US" dirty="0" smtClean="0"/>
          </a:p>
          <a:p>
            <a:pPr marL="0" indent="0">
              <a:lnSpc>
                <a:spcPct val="100000"/>
              </a:lnSpc>
              <a:spcBef>
                <a:spcPts val="0"/>
              </a:spcBef>
              <a:buNone/>
            </a:pPr>
            <a:r>
              <a:rPr lang="en-US" dirty="0"/>
              <a:t>	</a:t>
            </a:r>
          </a:p>
        </p:txBody>
      </p:sp>
    </p:spTree>
    <p:extLst>
      <p:ext uri="{BB962C8B-B14F-4D97-AF65-F5344CB8AC3E}">
        <p14:creationId xmlns:p14="http://schemas.microsoft.com/office/powerpoint/2010/main" val="72718468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accent1"/>
                </a:solidFill>
              </a:rPr>
              <a:t>&lt;additional&gt;</a:t>
            </a:r>
            <a:endParaRPr lang="en-US" dirty="0">
              <a:solidFill>
                <a:schemeClr val="accent1"/>
              </a:solidFill>
            </a:endParaRPr>
          </a:p>
        </p:txBody>
      </p:sp>
      <p:sp>
        <p:nvSpPr>
          <p:cNvPr id="3" name="Content Placeholder 2"/>
          <p:cNvSpPr>
            <a:spLocks noGrp="1"/>
          </p:cNvSpPr>
          <p:nvPr>
            <p:ph idx="1"/>
          </p:nvPr>
        </p:nvSpPr>
        <p:spPr/>
        <p:txBody>
          <a:bodyPr/>
          <a:lstStyle/>
          <a:p>
            <a:r>
              <a:rPr lang="en-US" dirty="0" smtClean="0"/>
              <a:t>All the other stuff … admin, bibliography, availability </a:t>
            </a:r>
            <a:endParaRPr lang="en-US" dirty="0"/>
          </a:p>
        </p:txBody>
      </p:sp>
    </p:spTree>
    <p:extLst>
      <p:ext uri="{BB962C8B-B14F-4D97-AF65-F5344CB8AC3E}">
        <p14:creationId xmlns:p14="http://schemas.microsoft.com/office/powerpoint/2010/main" val="1524210946"/>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8919"/>
            <a:ext cx="10515600" cy="5868044"/>
          </a:xfrm>
        </p:spPr>
        <p: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&lt;additional&gt;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t>
            </a:r>
            <a:r>
              <a:rPr lang="en-US" dirty="0" err="1" smtClean="0">
                <a:solidFill>
                  <a:schemeClr val="accent1"/>
                </a:solidFill>
              </a:rPr>
              <a:t>adminInfo</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t>
            </a:r>
            <a:r>
              <a:rPr lang="en-US" dirty="0" err="1" smtClean="0">
                <a:solidFill>
                  <a:schemeClr val="accent1"/>
                </a:solidFill>
              </a:rPr>
              <a:t>recordHist</a:t>
            </a:r>
            <a:r>
              <a:rPr lang="en-US" dirty="0" smtClean="0">
                <a:solidFill>
                  <a:schemeClr val="accent1"/>
                </a:solidFill>
              </a:rPr>
              <a:t>&gt;&lt;/</a:t>
            </a:r>
            <a:r>
              <a:rPr lang="en-US" dirty="0" err="1" smtClean="0">
                <a:solidFill>
                  <a:schemeClr val="accent1"/>
                </a:solidFill>
              </a:rPr>
              <a:t>recordHist</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&lt;availability&gt;&lt;/availability&gt;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	&lt;</a:t>
            </a:r>
            <a:r>
              <a:rPr lang="en-US" dirty="0" err="1" smtClean="0">
                <a:solidFill>
                  <a:schemeClr val="accent1"/>
                </a:solidFill>
              </a:rPr>
              <a:t>custodialHist</a:t>
            </a:r>
            <a:r>
              <a:rPr lang="en-US" dirty="0" smtClean="0">
                <a:solidFill>
                  <a:schemeClr val="accent1"/>
                </a:solidFill>
              </a:rPr>
              <a:t>&gt;&lt;/</a:t>
            </a:r>
            <a:r>
              <a:rPr lang="en-US" dirty="0" err="1" smtClean="0">
                <a:solidFill>
                  <a:schemeClr val="accent1"/>
                </a:solidFill>
              </a:rPr>
              <a:t>custodialHist</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t>
            </a:r>
            <a:r>
              <a:rPr lang="en-US" dirty="0" err="1" smtClean="0">
                <a:solidFill>
                  <a:schemeClr val="accent1"/>
                </a:solidFill>
              </a:rPr>
              <a:t>adminInfo</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&lt;surrogates&gt;&lt;/surrogates&gt;</a:t>
            </a:r>
          </a:p>
          <a:p>
            <a:pPr marL="0" marR="0" lvl="0" indent="0" defTabSz="914400" eaLnBrk="1" fontAlgn="auto" latinLnBrk="0" hangingPunct="1">
              <a:lnSpc>
                <a:spcPct val="100000"/>
              </a:lnSpc>
              <a:spcBef>
                <a:spcPts val="0"/>
              </a:spcBef>
              <a:spcAft>
                <a:spcPts val="0"/>
              </a:spcAft>
              <a:buClrTx/>
              <a:buSzTx/>
              <a:buFontTx/>
              <a:buNone/>
              <a:tabLst/>
              <a:defRPr/>
            </a:pPr>
            <a:r>
              <a:rPr lang="en-US" dirty="0">
                <a:solidFill>
                  <a:schemeClr val="accent1"/>
                </a:solidFill>
              </a:rPr>
              <a:t>	</a:t>
            </a:r>
            <a:r>
              <a:rPr lang="en-US" dirty="0" smtClean="0">
                <a:solidFill>
                  <a:schemeClr val="accent1"/>
                </a:solidFill>
              </a:rPr>
              <a:t>&lt;</a:t>
            </a:r>
            <a:r>
              <a:rPr lang="en-US" dirty="0" err="1" smtClean="0">
                <a:solidFill>
                  <a:schemeClr val="accent1"/>
                </a:solidFill>
              </a:rPr>
              <a:t>listBibl</a:t>
            </a:r>
            <a:r>
              <a:rPr lang="en-US" dirty="0" smtClean="0">
                <a:solidFill>
                  <a:schemeClr val="accent1"/>
                </a:solidFill>
              </a:rPr>
              <a:t>&gt;&lt;/</a:t>
            </a:r>
            <a:r>
              <a:rPr lang="en-US" dirty="0" err="1" smtClean="0">
                <a:solidFill>
                  <a:schemeClr val="accent1"/>
                </a:solidFill>
              </a:rPr>
              <a:t>listBibl</a:t>
            </a:r>
            <a:r>
              <a:rPr lang="en-US" dirty="0" smtClean="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&lt;/additional&gt;</a:t>
            </a:r>
            <a:endParaRPr lang="en-US" dirty="0">
              <a:solidFill>
                <a:schemeClr val="accent1"/>
              </a:solidFill>
            </a:endParaRPr>
          </a:p>
        </p:txBody>
      </p:sp>
    </p:spTree>
    <p:extLst>
      <p:ext uri="{BB962C8B-B14F-4D97-AF65-F5344CB8AC3E}">
        <p14:creationId xmlns:p14="http://schemas.microsoft.com/office/powerpoint/2010/main" val="211417367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70703"/>
            <a:ext cx="10515600" cy="5806260"/>
          </a:xfrm>
        </p:spPr>
        <p:txBody>
          <a:bodyPr>
            <a:normAutofit fontScale="85000" lnSpcReduction="20000"/>
          </a:bodyPr>
          <a:lstStyle/>
          <a:p>
            <a:pPr marL="0" indent="0">
              <a:buNone/>
            </a:pPr>
            <a:r>
              <a:rPr lang="en-US" dirty="0">
                <a:solidFill>
                  <a:schemeClr val="accent1"/>
                </a:solidFill>
              </a:rPr>
              <a:t>&lt;</a:t>
            </a:r>
            <a:r>
              <a:rPr lang="en-US" dirty="0" err="1">
                <a:solidFill>
                  <a:schemeClr val="accent1"/>
                </a:solidFill>
              </a:rPr>
              <a:t>adminInfo</a:t>
            </a:r>
            <a:r>
              <a:rPr lang="en-US" dirty="0">
                <a:solidFill>
                  <a:schemeClr val="accent1"/>
                </a:solidFill>
              </a:rPr>
              <a:t>&gt;</a:t>
            </a:r>
          </a:p>
          <a:p>
            <a:pPr marL="0" indent="0">
              <a:buNone/>
            </a:pPr>
            <a:r>
              <a:rPr lang="en-US" dirty="0" smtClean="0">
                <a:solidFill>
                  <a:schemeClr val="accent1"/>
                </a:solidFill>
              </a:rPr>
              <a:t>	&lt;</a:t>
            </a:r>
            <a:r>
              <a:rPr lang="en-US" dirty="0" err="1">
                <a:solidFill>
                  <a:schemeClr val="accent1"/>
                </a:solidFill>
              </a:rPr>
              <a:t>recordHist</a:t>
            </a:r>
            <a:r>
              <a:rPr lang="en-US" dirty="0">
                <a:solidFill>
                  <a:schemeClr val="accent1"/>
                </a:solidFill>
              </a:rPr>
              <a:t>&gt;</a:t>
            </a:r>
          </a:p>
          <a:p>
            <a:pPr marL="0" indent="0">
              <a:buNone/>
            </a:pPr>
            <a:r>
              <a:rPr lang="en-US" dirty="0" smtClean="0">
                <a:solidFill>
                  <a:schemeClr val="accent1"/>
                </a:solidFill>
              </a:rPr>
              <a:t>		&lt;source&gt;</a:t>
            </a:r>
            <a:r>
              <a:rPr lang="en-US" dirty="0" smtClean="0"/>
              <a:t>This </a:t>
            </a:r>
            <a:r>
              <a:rPr lang="en-US" dirty="0"/>
              <a:t>catalogue entry draws on the introduction to the facsimile volume </a:t>
            </a:r>
            <a:r>
              <a:rPr lang="en-US" dirty="0" smtClean="0"/>
              <a:t>of </a:t>
            </a:r>
            <a:r>
              <a:rPr lang="en-US" dirty="0" smtClean="0">
                <a:solidFill>
                  <a:schemeClr val="accent1"/>
                </a:solidFill>
              </a:rPr>
              <a:t>&lt;</a:t>
            </a:r>
            <a:r>
              <a:rPr lang="en-US" dirty="0">
                <a:solidFill>
                  <a:schemeClr val="accent1"/>
                </a:solidFill>
              </a:rPr>
              <a:t>hi rend="italic"&gt;</a:t>
            </a:r>
            <a:r>
              <a:rPr lang="en-US" dirty="0"/>
              <a:t>The Moore Bede</a:t>
            </a:r>
            <a:r>
              <a:rPr lang="en-US" dirty="0">
                <a:solidFill>
                  <a:schemeClr val="accent1"/>
                </a:solidFill>
              </a:rPr>
              <a:t>&lt;/</a:t>
            </a:r>
            <a:r>
              <a:rPr lang="en-US" dirty="0" smtClean="0">
                <a:solidFill>
                  <a:schemeClr val="accent1"/>
                </a:solidFill>
              </a:rPr>
              <a:t>hi&gt; </a:t>
            </a:r>
            <a:r>
              <a:rPr lang="en-US" dirty="0" smtClean="0"/>
              <a:t>by </a:t>
            </a:r>
            <a:r>
              <a:rPr lang="en-US" dirty="0"/>
              <a:t>Peter Hunter Blair (Copenhagen: </a:t>
            </a:r>
            <a:r>
              <a:rPr lang="en-US" dirty="0" err="1"/>
              <a:t>Rosenkilde</a:t>
            </a:r>
            <a:r>
              <a:rPr lang="en-US" dirty="0"/>
              <a:t> and Bagger, 1959) and an article by Jayne Ringrose 'The Royal Library: Moore and his Books', </a:t>
            </a:r>
            <a:r>
              <a:rPr lang="en-US" dirty="0" smtClean="0"/>
              <a:t>in </a:t>
            </a:r>
            <a:r>
              <a:rPr lang="en-US" dirty="0" smtClean="0">
                <a:solidFill>
                  <a:schemeClr val="accent1"/>
                </a:solidFill>
              </a:rPr>
              <a:t>&lt;</a:t>
            </a:r>
            <a:r>
              <a:rPr lang="en-US" dirty="0">
                <a:solidFill>
                  <a:schemeClr val="accent1"/>
                </a:solidFill>
              </a:rPr>
              <a:t>hi rend="italic</a:t>
            </a:r>
            <a:r>
              <a:rPr lang="en-US" dirty="0" smtClean="0">
                <a:solidFill>
                  <a:schemeClr val="accent1"/>
                </a:solidFill>
              </a:rPr>
              <a:t>"&gt; </a:t>
            </a:r>
            <a:r>
              <a:rPr lang="en-US" dirty="0" smtClean="0"/>
              <a:t>Cambridge </a:t>
            </a:r>
            <a:r>
              <a:rPr lang="en-US" dirty="0"/>
              <a:t>University Library: The Great </a:t>
            </a:r>
            <a:r>
              <a:rPr lang="en-US" dirty="0" smtClean="0"/>
              <a:t>Collections</a:t>
            </a:r>
            <a:r>
              <a:rPr lang="en-US" dirty="0" smtClean="0">
                <a:solidFill>
                  <a:schemeClr val="accent1"/>
                </a:solidFill>
              </a:rPr>
              <a:t>&lt;/</a:t>
            </a:r>
            <a:r>
              <a:rPr lang="en-US" dirty="0">
                <a:solidFill>
                  <a:schemeClr val="accent1"/>
                </a:solidFill>
              </a:rPr>
              <a:t>hi</a:t>
            </a:r>
            <a:r>
              <a:rPr lang="en-US" dirty="0" smtClean="0">
                <a:solidFill>
                  <a:schemeClr val="accent1"/>
                </a:solidFill>
              </a:rPr>
              <a:t>&gt; </a:t>
            </a:r>
            <a:r>
              <a:rPr lang="en-US" dirty="0" smtClean="0"/>
              <a:t>(</a:t>
            </a:r>
            <a:r>
              <a:rPr lang="en-US" dirty="0"/>
              <a:t>Cambridge, 1998), edited by Peter </a:t>
            </a:r>
            <a:r>
              <a:rPr lang="en-US" dirty="0" smtClean="0"/>
              <a:t>Fox</a:t>
            </a:r>
            <a:r>
              <a:rPr lang="en-US" dirty="0" smtClean="0">
                <a:solidFill>
                  <a:schemeClr val="accent1"/>
                </a:solidFill>
              </a:rPr>
              <a:t>&lt;/</a:t>
            </a:r>
            <a:r>
              <a:rPr lang="en-US" dirty="0">
                <a:solidFill>
                  <a:schemeClr val="accent1"/>
                </a:solidFill>
              </a:rPr>
              <a:t>source&gt;</a:t>
            </a:r>
          </a:p>
          <a:p>
            <a:pPr marL="0" indent="0">
              <a:buNone/>
            </a:pPr>
            <a:r>
              <a:rPr lang="en-US" dirty="0" smtClean="0">
                <a:solidFill>
                  <a:schemeClr val="accent1"/>
                </a:solidFill>
              </a:rPr>
              <a:t>	&lt;/</a:t>
            </a:r>
            <a:r>
              <a:rPr lang="en-US" dirty="0" err="1">
                <a:solidFill>
                  <a:schemeClr val="accent1"/>
                </a:solidFill>
              </a:rPr>
              <a:t>recordHist</a:t>
            </a:r>
            <a:r>
              <a:rPr lang="en-US" dirty="0">
                <a:solidFill>
                  <a:schemeClr val="accent1"/>
                </a:solidFill>
              </a:rPr>
              <a:t>&gt;</a:t>
            </a:r>
          </a:p>
          <a:p>
            <a:pPr marL="0" indent="0">
              <a:buNone/>
            </a:pPr>
            <a:r>
              <a:rPr lang="en-US" dirty="0" smtClean="0">
                <a:solidFill>
                  <a:schemeClr val="accent1"/>
                </a:solidFill>
              </a:rPr>
              <a:t>	&lt;</a:t>
            </a:r>
            <a:r>
              <a:rPr lang="en-US" dirty="0">
                <a:solidFill>
                  <a:schemeClr val="accent1"/>
                </a:solidFill>
              </a:rPr>
              <a:t>availability status="restricted"&gt;</a:t>
            </a:r>
          </a:p>
          <a:p>
            <a:pPr marL="0" indent="0">
              <a:buNone/>
            </a:pPr>
            <a:r>
              <a:rPr lang="en-US" dirty="0" smtClean="0">
                <a:solidFill>
                  <a:schemeClr val="accent1"/>
                </a:solidFill>
              </a:rPr>
              <a:t>		&lt;p</a:t>
            </a:r>
            <a:r>
              <a:rPr lang="en-US" dirty="0" smtClean="0"/>
              <a:t>&gt;Entry </a:t>
            </a:r>
            <a:r>
              <a:rPr lang="en-US" dirty="0"/>
              <a:t>to read in the Library is permitted only on presentation of a valid reader's card for admissions procedures </a:t>
            </a:r>
            <a:r>
              <a:rPr lang="en-US" dirty="0" smtClean="0"/>
              <a:t>contact </a:t>
            </a:r>
            <a:r>
              <a:rPr lang="en-US" dirty="0" smtClean="0">
                <a:solidFill>
                  <a:schemeClr val="accent1"/>
                </a:solidFill>
              </a:rPr>
              <a:t>&lt;</a:t>
            </a:r>
            <a:r>
              <a:rPr lang="en-US" dirty="0">
                <a:solidFill>
                  <a:schemeClr val="accent1"/>
                </a:solidFill>
              </a:rPr>
              <a:t>ref target="http://</a:t>
            </a:r>
            <a:r>
              <a:rPr lang="en-US" dirty="0" err="1">
                <a:solidFill>
                  <a:schemeClr val="accent1"/>
                </a:solidFill>
              </a:rPr>
              <a:t>www.lib.cam.ac.uk</a:t>
            </a:r>
            <a:r>
              <a:rPr lang="en-US" dirty="0">
                <a:solidFill>
                  <a:schemeClr val="accent1"/>
                </a:solidFill>
              </a:rPr>
              <a:t>/</a:t>
            </a:r>
            <a:r>
              <a:rPr lang="en-US" dirty="0" err="1">
                <a:solidFill>
                  <a:schemeClr val="accent1"/>
                </a:solidFill>
              </a:rPr>
              <a:t>cgi</a:t>
            </a:r>
            <a:r>
              <a:rPr lang="en-US" dirty="0">
                <a:solidFill>
                  <a:schemeClr val="accent1"/>
                </a:solidFill>
              </a:rPr>
              <a:t>-bin/</a:t>
            </a:r>
            <a:r>
              <a:rPr lang="en-US" dirty="0" err="1">
                <a:solidFill>
                  <a:schemeClr val="accent1"/>
                </a:solidFill>
              </a:rPr>
              <a:t>eligibility.cgi</a:t>
            </a:r>
            <a:r>
              <a:rPr lang="en-US" dirty="0">
                <a:solidFill>
                  <a:schemeClr val="accent1"/>
                </a:solidFill>
              </a:rPr>
              <a:t>/"&gt;</a:t>
            </a:r>
            <a:r>
              <a:rPr lang="en-US" dirty="0"/>
              <a:t>Cambridge University Library Admissions</a:t>
            </a:r>
            <a:r>
              <a:rPr lang="en-US" dirty="0">
                <a:solidFill>
                  <a:schemeClr val="accent1"/>
                </a:solidFill>
              </a:rPr>
              <a:t>&lt;/ref</a:t>
            </a:r>
            <a:r>
              <a:rPr lang="en-US" dirty="0" smtClean="0">
                <a:solidFill>
                  <a:schemeClr val="accent1"/>
                </a:solidFill>
              </a:rPr>
              <a:t>&gt;</a:t>
            </a:r>
            <a:r>
              <a:rPr lang="en-US" dirty="0" smtClean="0"/>
              <a:t>). </a:t>
            </a:r>
            <a:r>
              <a:rPr lang="en-US" dirty="0"/>
              <a:t>Contact the Manuscripts Department for further information on the availability of this </a:t>
            </a:r>
            <a:r>
              <a:rPr lang="en-US" dirty="0" smtClean="0"/>
              <a:t>manuscript</a:t>
            </a:r>
            <a:r>
              <a:rPr lang="en-US" dirty="0" smtClean="0">
                <a:solidFill>
                  <a:schemeClr val="accent1"/>
                </a:solidFill>
              </a:rPr>
              <a:t>.&lt;/</a:t>
            </a:r>
            <a:r>
              <a:rPr lang="en-US" dirty="0">
                <a:solidFill>
                  <a:schemeClr val="accent1"/>
                </a:solidFill>
              </a:rPr>
              <a:t>p&gt;</a:t>
            </a:r>
          </a:p>
          <a:p>
            <a:pPr marL="0" indent="0">
              <a:buNone/>
            </a:pPr>
            <a:r>
              <a:rPr lang="en-US" dirty="0" smtClean="0">
                <a:solidFill>
                  <a:schemeClr val="accent1"/>
                </a:solidFill>
              </a:rPr>
              <a:t>	&lt;/</a:t>
            </a:r>
            <a:r>
              <a:rPr lang="en-US" dirty="0">
                <a:solidFill>
                  <a:schemeClr val="accent1"/>
                </a:solidFill>
              </a:rPr>
              <a:t>availability&gt;</a:t>
            </a:r>
          </a:p>
          <a:p>
            <a:pPr marL="0" indent="0">
              <a:buNone/>
            </a:pPr>
            <a:r>
              <a:rPr lang="en-US" dirty="0" smtClean="0">
                <a:solidFill>
                  <a:schemeClr val="accent1"/>
                </a:solidFill>
              </a:rPr>
              <a:t>&lt;/</a:t>
            </a:r>
            <a:r>
              <a:rPr lang="en-US" dirty="0" err="1">
                <a:solidFill>
                  <a:schemeClr val="accent1"/>
                </a:solidFill>
              </a:rPr>
              <a:t>adminInfo</a:t>
            </a:r>
            <a:r>
              <a:rPr lang="en-US" dirty="0">
                <a:solidFill>
                  <a:schemeClr val="accent1"/>
                </a:solidFill>
              </a:rPr>
              <a:t>&gt;</a:t>
            </a:r>
          </a:p>
          <a:p>
            <a:pPr marL="0" marR="0" lvl="0" indent="0" defTabSz="914400" eaLnBrk="1" fontAlgn="auto" latinLnBrk="0" hangingPunct="1">
              <a:lnSpc>
                <a:spcPct val="10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175995196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smtClean="0"/>
              <a:t>Moore Bede</a:t>
            </a:r>
          </a:p>
          <a:p>
            <a:r>
              <a:rPr lang="en-US" dirty="0">
                <a:hlinkClick r:id="rId2"/>
              </a:rPr>
              <a:t>https://</a:t>
            </a:r>
            <a:r>
              <a:rPr lang="en-US" dirty="0" err="1">
                <a:hlinkClick r:id="rId2"/>
              </a:rPr>
              <a:t>cudl.lib.cam.ac.uk</a:t>
            </a:r>
            <a:r>
              <a:rPr lang="en-US" dirty="0">
                <a:hlinkClick r:id="rId2"/>
              </a:rPr>
              <a:t>/view/MS-KK-00005-00016/13</a:t>
            </a:r>
            <a:endParaRPr lang="en-US" dirty="0"/>
          </a:p>
        </p:txBody>
      </p:sp>
    </p:spTree>
    <p:extLst>
      <p:ext uri="{BB962C8B-B14F-4D97-AF65-F5344CB8AC3E}">
        <p14:creationId xmlns:p14="http://schemas.microsoft.com/office/powerpoint/2010/main" val="182259168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9876"/>
            <a:ext cx="10515600" cy="5627087"/>
          </a:xfrm>
        </p:spPr>
        <p:txBody>
          <a:bodyPr>
            <a:norm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listBibl</a:t>
            </a:r>
            <a:r>
              <a:rPr lang="en-US" dirty="0" smtClean="0">
                <a:solidFill>
                  <a:schemeClr val="accent1"/>
                </a:solidFill>
              </a:rPr>
              <a:t>&gt;</a:t>
            </a:r>
          </a:p>
          <a:p>
            <a:pPr marL="0" indent="0">
              <a:lnSpc>
                <a:spcPct val="100000"/>
              </a:lnSpc>
              <a:spcBef>
                <a:spcPts val="0"/>
              </a:spcBef>
              <a:buNone/>
              <a:defRPr/>
            </a:pPr>
            <a:endParaRPr lang="en-US" smtClean="0">
              <a:solidFill>
                <a:schemeClr val="accent1"/>
              </a:solidFill>
            </a:endParaRPr>
          </a:p>
          <a:p>
            <a:pPr marL="0" indent="0">
              <a:lnSpc>
                <a:spcPct val="100000"/>
              </a:lnSpc>
              <a:spcBef>
                <a:spcPts val="0"/>
              </a:spcBef>
              <a:buNone/>
              <a:defRPr/>
            </a:pPr>
            <a:r>
              <a:rPr lang="en-US" dirty="0">
                <a:solidFill>
                  <a:schemeClr val="accent1"/>
                </a:solidFill>
              </a:rPr>
              <a:t>	</a:t>
            </a:r>
            <a:r>
              <a:rPr lang="en-US" dirty="0" smtClean="0">
                <a:solidFill>
                  <a:schemeClr val="accent1"/>
                </a:solidFill>
              </a:rPr>
              <a:t>&lt;</a:t>
            </a:r>
            <a:r>
              <a:rPr lang="en-US" dirty="0" err="1" smtClean="0">
                <a:solidFill>
                  <a:schemeClr val="accent1"/>
                </a:solidFill>
              </a:rPr>
              <a:t>bibl</a:t>
            </a:r>
            <a:r>
              <a:rPr lang="en-US" dirty="0" smtClean="0">
                <a:solidFill>
                  <a:schemeClr val="accent1"/>
                </a:solidFill>
              </a:rPr>
              <a:t>&gt;</a:t>
            </a:r>
            <a:r>
              <a:rPr lang="en-US" dirty="0"/>
              <a:t>Clemente, Michela, Hildegard </a:t>
            </a:r>
            <a:r>
              <a:rPr lang="en-US" dirty="0" err="1"/>
              <a:t>Diemberger</a:t>
            </a:r>
            <a:r>
              <a:rPr lang="en-US" dirty="0"/>
              <a:t> and Mark Elliott (</a:t>
            </a:r>
            <a:r>
              <a:rPr lang="en-US" dirty="0" err="1"/>
              <a:t>eds</a:t>
            </a:r>
            <a:r>
              <a:rPr lang="en-US" dirty="0"/>
              <a:t>), </a:t>
            </a:r>
            <a:r>
              <a:rPr lang="en-US" dirty="0" smtClean="0">
                <a:solidFill>
                  <a:schemeClr val="accent1"/>
                </a:solidFill>
              </a:rPr>
              <a:t>&lt;hi rend=“italic”&gt;</a:t>
            </a:r>
            <a:r>
              <a:rPr lang="en-US" dirty="0" smtClean="0"/>
              <a:t>Buddha's </a:t>
            </a:r>
            <a:r>
              <a:rPr lang="en-US" dirty="0"/>
              <a:t>Word. The Life of Books in Tibet and </a:t>
            </a:r>
            <a:r>
              <a:rPr lang="en-US" dirty="0" smtClean="0"/>
              <a:t>Beyond</a:t>
            </a:r>
            <a:r>
              <a:rPr lang="en-US" dirty="0" smtClean="0">
                <a:solidFill>
                  <a:schemeClr val="accent1"/>
                </a:solidFill>
              </a:rPr>
              <a:t>&lt;/hi&gt;</a:t>
            </a:r>
            <a:r>
              <a:rPr lang="en-US" dirty="0"/>
              <a:t> (Cambridge: Museum of Archaeology and Anthropology University of Cambridge, 2014</a:t>
            </a:r>
            <a:r>
              <a:rPr lang="en-US" dirty="0" smtClean="0"/>
              <a:t>).</a:t>
            </a:r>
            <a:r>
              <a:rPr lang="en-US" dirty="0" smtClean="0">
                <a:solidFill>
                  <a:schemeClr val="accent1"/>
                </a:solidFill>
              </a:rPr>
              <a:t>&lt;/</a:t>
            </a:r>
            <a:r>
              <a:rPr lang="en-US" dirty="0" err="1" smtClean="0">
                <a:solidFill>
                  <a:schemeClr val="accent1"/>
                </a:solidFill>
              </a:rPr>
              <a:t>bibl</a:t>
            </a:r>
            <a:r>
              <a:rPr lang="en-US" dirty="0" smtClean="0">
                <a:solidFill>
                  <a:schemeClr val="accent1"/>
                </a:solidFill>
              </a:rPr>
              <a:t>&gt;</a:t>
            </a:r>
          </a:p>
          <a:p>
            <a:pPr marL="0" indent="0">
              <a:lnSpc>
                <a:spcPct val="100000"/>
              </a:lnSpc>
              <a:spcBef>
                <a:spcPts val="0"/>
              </a:spcBef>
              <a:buNone/>
              <a:defRPr/>
            </a:pPr>
            <a:endParaRPr lang="en-US" dirty="0">
              <a:solidFill>
                <a:schemeClr val="accent1"/>
              </a:solidFill>
            </a:endParaRPr>
          </a:p>
          <a:p>
            <a:pPr marL="0" indent="0">
              <a:lnSpc>
                <a:spcPct val="100000"/>
              </a:lnSpc>
              <a:spcBef>
                <a:spcPts val="0"/>
              </a:spcBef>
              <a:buNone/>
              <a:defRPr/>
            </a:pPr>
            <a:r>
              <a:rPr lang="en-US" dirty="0" smtClean="0">
                <a:solidFill>
                  <a:schemeClr val="accent1"/>
                </a:solidFill>
              </a:rPr>
              <a:t>	&lt;</a:t>
            </a:r>
            <a:r>
              <a:rPr lang="en-US" dirty="0" err="1" smtClean="0">
                <a:solidFill>
                  <a:schemeClr val="accent1"/>
                </a:solidFill>
              </a:rPr>
              <a:t>bibl</a:t>
            </a:r>
            <a:r>
              <a:rPr lang="en-US" dirty="0" smtClean="0">
                <a:solidFill>
                  <a:schemeClr val="accent1"/>
                </a:solidFill>
              </a:rPr>
              <a:t>&gt;</a:t>
            </a:r>
            <a:r>
              <a:rPr lang="en-US" dirty="0"/>
              <a:t>Williams, Paul,  </a:t>
            </a:r>
            <a:r>
              <a:rPr lang="en-US" dirty="0">
                <a:solidFill>
                  <a:schemeClr val="accent1"/>
                </a:solidFill>
              </a:rPr>
              <a:t>&lt;hi rend=“italic</a:t>
            </a:r>
            <a:r>
              <a:rPr lang="en-US" dirty="0" smtClean="0">
                <a:solidFill>
                  <a:schemeClr val="accent1"/>
                </a:solidFill>
              </a:rPr>
              <a:t>”&gt;</a:t>
            </a:r>
            <a:r>
              <a:rPr lang="en-US" dirty="0" err="1" smtClean="0"/>
              <a:t>Mahāyāna</a:t>
            </a:r>
            <a:r>
              <a:rPr lang="en-US" dirty="0" smtClean="0"/>
              <a:t> </a:t>
            </a:r>
            <a:r>
              <a:rPr lang="en-US" dirty="0"/>
              <a:t>Buddhism. The Doctrinal </a:t>
            </a:r>
            <a:r>
              <a:rPr lang="en-US" dirty="0" smtClean="0"/>
              <a:t>Foundations</a:t>
            </a:r>
            <a:r>
              <a:rPr lang="en-US" dirty="0" smtClean="0">
                <a:solidFill>
                  <a:schemeClr val="accent1"/>
                </a:solidFill>
              </a:rPr>
              <a:t>&lt;/hi&gt;</a:t>
            </a:r>
            <a:r>
              <a:rPr lang="en-US" dirty="0"/>
              <a:t> 2nd, Library of religious beliefs and practices (New York: Routledge, 2009</a:t>
            </a:r>
            <a:r>
              <a:rPr lang="en-US" dirty="0" smtClean="0"/>
              <a:t>).</a:t>
            </a:r>
            <a:r>
              <a:rPr lang="en-US" dirty="0">
                <a:solidFill>
                  <a:schemeClr val="accent1"/>
                </a:solidFill>
              </a:rPr>
              <a:t> &lt;/</a:t>
            </a:r>
            <a:r>
              <a:rPr lang="en-US" dirty="0" err="1">
                <a:solidFill>
                  <a:schemeClr val="accent1"/>
                </a:solidFill>
              </a:rPr>
              <a:t>bibl</a:t>
            </a:r>
            <a:r>
              <a:rPr lang="en-US" dirty="0">
                <a:solidFill>
                  <a:schemeClr val="accent1"/>
                </a:solidFill>
              </a:rPr>
              <a:t>&gt;</a:t>
            </a:r>
            <a:endParaRPr lang="en-US" dirty="0"/>
          </a:p>
          <a:p>
            <a:pPr marL="0" marR="0" lvl="0" indent="0" defTabSz="914400" eaLnBrk="1" fontAlgn="auto" latinLnBrk="0" hangingPunct="1">
              <a:lnSpc>
                <a:spcPct val="100000"/>
              </a:lnSpc>
              <a:spcBef>
                <a:spcPts val="0"/>
              </a:spcBef>
              <a:spcAft>
                <a:spcPts val="0"/>
              </a:spcAft>
              <a:buClrTx/>
              <a:buSzTx/>
              <a:buFontTx/>
              <a:buNone/>
              <a:tabLst/>
              <a:defRPr/>
            </a:pPr>
            <a:endParaRPr lang="en-US" dirty="0" smtClean="0">
              <a:solidFill>
                <a:schemeClr val="accent1"/>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dirty="0" smtClean="0">
                <a:solidFill>
                  <a:schemeClr val="accent1"/>
                </a:solidFill>
              </a:rPr>
              <a:t>&lt;/</a:t>
            </a:r>
            <a:r>
              <a:rPr lang="en-US" dirty="0" err="1" smtClean="0">
                <a:solidFill>
                  <a:schemeClr val="accent1"/>
                </a:solidFill>
              </a:rPr>
              <a:t>listBibl</a:t>
            </a:r>
            <a:r>
              <a:rPr lang="en-US" dirty="0" smtClean="0">
                <a:solidFill>
                  <a:schemeClr val="accent1"/>
                </a:solidFill>
              </a:rPr>
              <a:t>&gt;</a:t>
            </a:r>
          </a:p>
        </p:txBody>
      </p:sp>
    </p:spTree>
    <p:extLst>
      <p:ext uri="{BB962C8B-B14F-4D97-AF65-F5344CB8AC3E}">
        <p14:creationId xmlns:p14="http://schemas.microsoft.com/office/powerpoint/2010/main" val="144117745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en-US" dirty="0" err="1"/>
              <a:t>Prajñāpāramitāstotra</a:t>
            </a:r>
            <a:endParaRPr lang="en-US" dirty="0"/>
          </a:p>
          <a:p>
            <a:r>
              <a:rPr lang="en-US" dirty="0">
                <a:hlinkClick r:id="rId2"/>
              </a:rPr>
              <a:t>https://</a:t>
            </a:r>
            <a:r>
              <a:rPr lang="en-US" dirty="0" err="1">
                <a:hlinkClick r:id="rId2"/>
              </a:rPr>
              <a:t>cudl.lib.cam.ac.uk</a:t>
            </a:r>
            <a:r>
              <a:rPr lang="en-US" dirty="0">
                <a:hlinkClick r:id="rId2"/>
              </a:rPr>
              <a:t>/view/MS-ADD-01464/2</a:t>
            </a:r>
            <a:endParaRPr lang="en-US" dirty="0"/>
          </a:p>
        </p:txBody>
      </p:sp>
    </p:spTree>
    <p:extLst>
      <p:ext uri="{BB962C8B-B14F-4D97-AF65-F5344CB8AC3E}">
        <p14:creationId xmlns:p14="http://schemas.microsoft.com/office/powerpoint/2010/main" val="15462624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options</a:t>
            </a:r>
            <a:endParaRPr lang="en-US" dirty="0"/>
          </a:p>
        </p:txBody>
      </p:sp>
      <p:sp>
        <p:nvSpPr>
          <p:cNvPr id="3" name="Content Placeholder 2"/>
          <p:cNvSpPr>
            <a:spLocks noGrp="1"/>
          </p:cNvSpPr>
          <p:nvPr>
            <p:ph idx="1"/>
          </p:nvPr>
        </p:nvSpPr>
        <p:spPr/>
        <p:txBody>
          <a:bodyPr/>
          <a:lstStyle/>
          <a:p>
            <a:r>
              <a:rPr lang="en-US" dirty="0" smtClean="0">
                <a:solidFill>
                  <a:schemeClr val="accent1"/>
                </a:solidFill>
              </a:rPr>
              <a:t>&lt;</a:t>
            </a:r>
            <a:r>
              <a:rPr lang="en-US" dirty="0" err="1" smtClean="0">
                <a:solidFill>
                  <a:schemeClr val="accent1"/>
                </a:solidFill>
              </a:rPr>
              <a:t>msPart</a:t>
            </a:r>
            <a:r>
              <a:rPr lang="en-US" dirty="0" smtClean="0">
                <a:solidFill>
                  <a:schemeClr val="accent1"/>
                </a:solidFill>
              </a:rPr>
              <a:t>&gt; </a:t>
            </a:r>
            <a:r>
              <a:rPr lang="en-US" dirty="0" smtClean="0"/>
              <a:t>-</a:t>
            </a:r>
            <a:r>
              <a:rPr lang="en-US" dirty="0" smtClean="0">
                <a:solidFill>
                  <a:schemeClr val="accent1"/>
                </a:solidFill>
              </a:rPr>
              <a:t> </a:t>
            </a:r>
            <a:r>
              <a:rPr lang="en-US" dirty="0" smtClean="0"/>
              <a:t>for composite manuscripts</a:t>
            </a:r>
          </a:p>
          <a:p>
            <a:r>
              <a:rPr lang="en-US" dirty="0" smtClean="0"/>
              <a:t>Like having multiple </a:t>
            </a:r>
            <a:r>
              <a:rPr lang="en-US" dirty="0" smtClean="0">
                <a:solidFill>
                  <a:schemeClr val="accent1"/>
                </a:solidFill>
              </a:rPr>
              <a:t>&lt;</a:t>
            </a:r>
            <a:r>
              <a:rPr lang="en-US" dirty="0" err="1" smtClean="0">
                <a:solidFill>
                  <a:schemeClr val="accent1"/>
                </a:solidFill>
              </a:rPr>
              <a:t>msDesc</a:t>
            </a:r>
            <a:r>
              <a:rPr lang="en-US" dirty="0" smtClean="0">
                <a:solidFill>
                  <a:schemeClr val="accent1"/>
                </a:solidFill>
              </a:rPr>
              <a:t>&gt; </a:t>
            </a:r>
            <a:r>
              <a:rPr lang="en-US" dirty="0" smtClean="0"/>
              <a:t>elements in one TEI record</a:t>
            </a:r>
          </a:p>
          <a:p>
            <a:r>
              <a:rPr lang="en-US" dirty="0" smtClean="0">
                <a:solidFill>
                  <a:schemeClr val="accent1"/>
                </a:solidFill>
              </a:rPr>
              <a:t>&lt;</a:t>
            </a:r>
            <a:r>
              <a:rPr lang="en-US" dirty="0" err="1" smtClean="0">
                <a:solidFill>
                  <a:schemeClr val="accent1"/>
                </a:solidFill>
              </a:rPr>
              <a:t>msFrag</a:t>
            </a:r>
            <a:r>
              <a:rPr lang="en-US" dirty="0" smtClean="0">
                <a:solidFill>
                  <a:schemeClr val="accent1"/>
                </a:solidFill>
              </a:rPr>
              <a:t>&gt; </a:t>
            </a:r>
            <a:r>
              <a:rPr lang="en-US" dirty="0" smtClean="0"/>
              <a:t>- to bring together fragments of the same manuscript</a:t>
            </a:r>
          </a:p>
          <a:p>
            <a:r>
              <a:rPr lang="en-US" dirty="0" smtClean="0"/>
              <a:t>Each </a:t>
            </a:r>
            <a:r>
              <a:rPr lang="en-US" dirty="0" smtClean="0">
                <a:solidFill>
                  <a:schemeClr val="accent1"/>
                </a:solidFill>
              </a:rPr>
              <a:t>&lt;</a:t>
            </a:r>
            <a:r>
              <a:rPr lang="en-US" dirty="0" err="1" smtClean="0">
                <a:solidFill>
                  <a:schemeClr val="accent1"/>
                </a:solidFill>
              </a:rPr>
              <a:t>msFrag</a:t>
            </a:r>
            <a:r>
              <a:rPr lang="en-US" dirty="0" smtClean="0">
                <a:solidFill>
                  <a:schemeClr val="accent1"/>
                </a:solidFill>
              </a:rPr>
              <a:t>&gt;</a:t>
            </a:r>
            <a:r>
              <a:rPr lang="en-US" dirty="0" smtClean="0"/>
              <a:t> can contain a complete description of the fragment</a:t>
            </a:r>
          </a:p>
          <a:p>
            <a:r>
              <a:rPr lang="en-US" dirty="0" smtClean="0">
                <a:solidFill>
                  <a:schemeClr val="accent1"/>
                </a:solidFill>
              </a:rPr>
              <a:t>&lt;</a:t>
            </a:r>
            <a:r>
              <a:rPr lang="en-US" dirty="0" err="1" smtClean="0">
                <a:solidFill>
                  <a:schemeClr val="accent1"/>
                </a:solidFill>
              </a:rPr>
              <a:t>correspDesc</a:t>
            </a:r>
            <a:r>
              <a:rPr lang="en-US" dirty="0" smtClean="0">
                <a:solidFill>
                  <a:schemeClr val="accent1"/>
                </a:solidFill>
              </a:rPr>
              <a:t>&gt;</a:t>
            </a:r>
            <a:r>
              <a:rPr lang="en-US" dirty="0" smtClean="0"/>
              <a:t> - specific elements for the description of correspondence</a:t>
            </a:r>
          </a:p>
          <a:p>
            <a:endParaRPr lang="en-US" dirty="0">
              <a:solidFill>
                <a:schemeClr val="accent1"/>
              </a:solidFill>
            </a:endParaRPr>
          </a:p>
        </p:txBody>
      </p:sp>
    </p:spTree>
    <p:extLst>
      <p:ext uri="{BB962C8B-B14F-4D97-AF65-F5344CB8AC3E}">
        <p14:creationId xmlns:p14="http://schemas.microsoft.com/office/powerpoint/2010/main" val="204024979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Standards and vocabularies</a:t>
            </a:r>
            <a:endParaRPr lang="en-US" dirty="0"/>
          </a:p>
        </p:txBody>
      </p:sp>
      <p:sp>
        <p:nvSpPr>
          <p:cNvPr id="3" name="Content Placeholder 2"/>
          <p:cNvSpPr>
            <a:spLocks noGrp="1"/>
          </p:cNvSpPr>
          <p:nvPr>
            <p:ph idx="1"/>
          </p:nvPr>
        </p:nvSpPr>
        <p:spPr/>
        <p:txBody>
          <a:bodyPr/>
          <a:lstStyle/>
          <a:p>
            <a:pPr marL="0" indent="0">
              <a:buNone/>
            </a:pPr>
            <a:r>
              <a:rPr lang="en-US" dirty="0" smtClean="0"/>
              <a:t>2/3 letter language codes</a:t>
            </a:r>
          </a:p>
          <a:p>
            <a:pPr marL="0" indent="0">
              <a:buNone/>
            </a:pPr>
            <a:r>
              <a:rPr lang="en-US" dirty="0" smtClean="0">
                <a:solidFill>
                  <a:schemeClr val="accent1"/>
                </a:solidFill>
              </a:rPr>
              <a:t>&lt;</a:t>
            </a:r>
            <a:r>
              <a:rPr lang="en-US" dirty="0" err="1">
                <a:solidFill>
                  <a:schemeClr val="accent1"/>
                </a:solidFill>
              </a:rPr>
              <a:t>textLang</a:t>
            </a:r>
            <a:r>
              <a:rPr lang="en-US" dirty="0">
                <a:solidFill>
                  <a:schemeClr val="accent1"/>
                </a:solidFill>
              </a:rPr>
              <a:t> </a:t>
            </a:r>
            <a:r>
              <a:rPr lang="en-US" dirty="0" err="1">
                <a:solidFill>
                  <a:schemeClr val="accent1"/>
                </a:solidFill>
              </a:rPr>
              <a:t>mainLang</a:t>
            </a:r>
            <a:r>
              <a:rPr lang="en-US" dirty="0">
                <a:solidFill>
                  <a:schemeClr val="accent1"/>
                </a:solidFill>
              </a:rPr>
              <a:t>="</a:t>
            </a:r>
            <a:r>
              <a:rPr lang="en-US" dirty="0" err="1">
                <a:solidFill>
                  <a:srgbClr val="C00000"/>
                </a:solidFill>
              </a:rPr>
              <a:t>en</a:t>
            </a:r>
            <a:r>
              <a:rPr lang="en-US" dirty="0">
                <a:solidFill>
                  <a:schemeClr val="accent1"/>
                </a:solidFill>
              </a:rPr>
              <a:t>" </a:t>
            </a:r>
            <a:r>
              <a:rPr lang="en-US" dirty="0" err="1">
                <a:solidFill>
                  <a:schemeClr val="accent1"/>
                </a:solidFill>
              </a:rPr>
              <a:t>otherLangs</a:t>
            </a:r>
            <a:r>
              <a:rPr lang="en-US" dirty="0">
                <a:solidFill>
                  <a:schemeClr val="accent1"/>
                </a:solidFill>
              </a:rPr>
              <a:t>="</a:t>
            </a:r>
            <a:r>
              <a:rPr lang="en-US" dirty="0">
                <a:solidFill>
                  <a:srgbClr val="C00000"/>
                </a:solidFill>
              </a:rPr>
              <a:t>la</a:t>
            </a:r>
            <a:r>
              <a:rPr lang="en-US" dirty="0">
                <a:solidFill>
                  <a:schemeClr val="accent1"/>
                </a:solidFill>
              </a:rPr>
              <a:t>"&gt; </a:t>
            </a:r>
            <a:r>
              <a:rPr lang="en-US" dirty="0"/>
              <a:t>Predominantly in English with </a:t>
            </a:r>
            <a:r>
              <a:rPr lang="en-US" dirty="0" smtClean="0"/>
              <a:t>Latin glosses</a:t>
            </a:r>
            <a:r>
              <a:rPr lang="en-US" dirty="0">
                <a:solidFill>
                  <a:schemeClr val="accent1"/>
                </a:solidFill>
              </a:rPr>
              <a:t>&lt;/</a:t>
            </a:r>
            <a:r>
              <a:rPr lang="en-US" dirty="0" err="1">
                <a:solidFill>
                  <a:schemeClr val="accent1"/>
                </a:solidFill>
              </a:rPr>
              <a:t>textLang</a:t>
            </a:r>
            <a:r>
              <a:rPr lang="en-US" dirty="0" smtClean="0">
                <a:solidFill>
                  <a:schemeClr val="accent1"/>
                </a:solidFill>
              </a:rPr>
              <a:t>&gt;</a:t>
            </a:r>
          </a:p>
          <a:p>
            <a:pPr marL="0" indent="0">
              <a:buNone/>
            </a:pPr>
            <a:r>
              <a:rPr lang="en-US" dirty="0" smtClean="0"/>
              <a:t>Getty Thesaurus of Geographic Names</a:t>
            </a:r>
            <a:endParaRPr lang="en-US" dirty="0"/>
          </a:p>
          <a:p>
            <a:pPr marL="0" indent="0">
              <a:buNone/>
            </a:pPr>
            <a:r>
              <a:rPr lang="en-US" dirty="0">
                <a:solidFill>
                  <a:schemeClr val="accent1"/>
                </a:solidFill>
              </a:rPr>
              <a:t>&lt;</a:t>
            </a:r>
            <a:r>
              <a:rPr lang="en-US" dirty="0" err="1">
                <a:solidFill>
                  <a:schemeClr val="accent1"/>
                </a:solidFill>
              </a:rPr>
              <a:t>origPlace</a:t>
            </a:r>
            <a:r>
              <a:rPr lang="en-US" dirty="0">
                <a:solidFill>
                  <a:schemeClr val="accent1"/>
                </a:solidFill>
              </a:rPr>
              <a:t> ref="</a:t>
            </a:r>
            <a:r>
              <a:rPr lang="en-US" dirty="0">
                <a:solidFill>
                  <a:srgbClr val="C00000"/>
                </a:solidFill>
              </a:rPr>
              <a:t>http://</a:t>
            </a:r>
            <a:r>
              <a:rPr lang="en-US" dirty="0" err="1">
                <a:solidFill>
                  <a:srgbClr val="C00000"/>
                </a:solidFill>
              </a:rPr>
              <a:t>vocab.getty.edu</a:t>
            </a:r>
            <a:r>
              <a:rPr lang="en-US" dirty="0">
                <a:solidFill>
                  <a:srgbClr val="C00000"/>
                </a:solidFill>
              </a:rPr>
              <a:t>/</a:t>
            </a:r>
            <a:r>
              <a:rPr lang="en-US" dirty="0" err="1">
                <a:solidFill>
                  <a:srgbClr val="C00000"/>
                </a:solidFill>
              </a:rPr>
              <a:t>tgn</a:t>
            </a:r>
            <a:r>
              <a:rPr lang="en-US" dirty="0">
                <a:solidFill>
                  <a:srgbClr val="C00000"/>
                </a:solidFill>
              </a:rPr>
              <a:t>/7011984</a:t>
            </a:r>
            <a:r>
              <a:rPr lang="en-US" dirty="0">
                <a:solidFill>
                  <a:schemeClr val="accent1"/>
                </a:solidFill>
              </a:rPr>
              <a:t>"&gt;</a:t>
            </a:r>
            <a:r>
              <a:rPr lang="en-US" dirty="0"/>
              <a:t>Thorney, </a:t>
            </a:r>
            <a:r>
              <a:rPr lang="en-US" dirty="0" err="1"/>
              <a:t>Cambridgeshire</a:t>
            </a:r>
            <a:r>
              <a:rPr lang="en-US" dirty="0">
                <a:solidFill>
                  <a:schemeClr val="accent1"/>
                </a:solidFill>
              </a:rPr>
              <a:t>&lt;/</a:t>
            </a:r>
            <a:r>
              <a:rPr lang="en-US" dirty="0" err="1">
                <a:solidFill>
                  <a:schemeClr val="accent1"/>
                </a:solidFill>
              </a:rPr>
              <a:t>origPlace</a:t>
            </a:r>
            <a:r>
              <a:rPr lang="en-US" dirty="0" smtClean="0">
                <a:solidFill>
                  <a:schemeClr val="accent1"/>
                </a:solidFill>
              </a:rPr>
              <a:t>&gt;</a:t>
            </a:r>
          </a:p>
          <a:p>
            <a:pPr marL="0" indent="0">
              <a:buNone/>
            </a:pPr>
            <a:r>
              <a:rPr lang="en-US" dirty="0" smtClean="0"/>
              <a:t>VIAF</a:t>
            </a:r>
          </a:p>
          <a:p>
            <a:pPr marL="0" indent="0">
              <a:buNone/>
            </a:pPr>
            <a:r>
              <a:rPr lang="en-US" dirty="0">
                <a:solidFill>
                  <a:schemeClr val="accent1"/>
                </a:solidFill>
              </a:rPr>
              <a:t>&lt;name type="</a:t>
            </a:r>
            <a:r>
              <a:rPr lang="en-US" dirty="0">
                <a:solidFill>
                  <a:srgbClr val="C00000"/>
                </a:solidFill>
              </a:rPr>
              <a:t>person</a:t>
            </a:r>
            <a:r>
              <a:rPr lang="en-US" dirty="0">
                <a:solidFill>
                  <a:schemeClr val="accent1"/>
                </a:solidFill>
              </a:rPr>
              <a:t>" ref="</a:t>
            </a:r>
            <a:r>
              <a:rPr lang="en-US" dirty="0">
                <a:solidFill>
                  <a:srgbClr val="C00000"/>
                </a:solidFill>
              </a:rPr>
              <a:t>http://</a:t>
            </a:r>
            <a:r>
              <a:rPr lang="en-US" dirty="0" err="1">
                <a:solidFill>
                  <a:srgbClr val="C00000"/>
                </a:solidFill>
              </a:rPr>
              <a:t>viaf.org</a:t>
            </a:r>
            <a:r>
              <a:rPr lang="en-US" dirty="0">
                <a:solidFill>
                  <a:srgbClr val="C00000"/>
                </a:solidFill>
              </a:rPr>
              <a:t>/</a:t>
            </a:r>
            <a:r>
              <a:rPr lang="en-US" dirty="0" err="1">
                <a:solidFill>
                  <a:srgbClr val="C00000"/>
                </a:solidFill>
              </a:rPr>
              <a:t>viaf</a:t>
            </a:r>
            <a:r>
              <a:rPr lang="en-US" dirty="0">
                <a:solidFill>
                  <a:srgbClr val="C00000"/>
                </a:solidFill>
              </a:rPr>
              <a:t>/23226169</a:t>
            </a:r>
            <a:r>
              <a:rPr lang="en-US" dirty="0">
                <a:solidFill>
                  <a:schemeClr val="accent1"/>
                </a:solidFill>
              </a:rPr>
              <a:t>" subtype="</a:t>
            </a:r>
            <a:r>
              <a:rPr lang="en-US" dirty="0" err="1">
                <a:solidFill>
                  <a:schemeClr val="accent1"/>
                </a:solidFill>
              </a:rPr>
              <a:t>fmo</a:t>
            </a:r>
            <a:r>
              <a:rPr lang="en-US" dirty="0">
                <a:solidFill>
                  <a:schemeClr val="accent1"/>
                </a:solidFill>
              </a:rPr>
              <a:t>"&gt;</a:t>
            </a:r>
            <a:r>
              <a:rPr lang="en-US" dirty="0" err="1"/>
              <a:t>Raph</a:t>
            </a:r>
            <a:r>
              <a:rPr lang="en-US" dirty="0"/>
              <a:t> Bishop of Exeter</a:t>
            </a:r>
            <a:r>
              <a:rPr lang="en-US" dirty="0">
                <a:solidFill>
                  <a:schemeClr val="accent1"/>
                </a:solidFill>
              </a:rPr>
              <a:t>&lt;/name&gt;</a:t>
            </a:r>
            <a:endParaRPr lang="en-US" dirty="0" smtClean="0">
              <a:solidFill>
                <a:schemeClr val="accent1"/>
              </a:solidFill>
            </a:endParaRPr>
          </a:p>
          <a:p>
            <a:pPr marL="0" indent="0">
              <a:buNone/>
            </a:pPr>
            <a:endParaRPr lang="en-US" dirty="0">
              <a:solidFill>
                <a:schemeClr val="accent1"/>
              </a:solidFill>
            </a:endParaRPr>
          </a:p>
          <a:p>
            <a:pPr marL="0" indent="0">
              <a:buNone/>
            </a:pPr>
            <a:endParaRPr lang="en-US" dirty="0">
              <a:solidFill>
                <a:schemeClr val="accent1"/>
              </a:solidFill>
            </a:endParaRPr>
          </a:p>
        </p:txBody>
      </p:sp>
    </p:spTree>
    <p:extLst>
      <p:ext uri="{BB962C8B-B14F-4D97-AF65-F5344CB8AC3E}">
        <p14:creationId xmlns:p14="http://schemas.microsoft.com/office/powerpoint/2010/main" val="5492263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1115</TotalTime>
  <Words>1050</Words>
  <Application>Microsoft Macintosh PowerPoint</Application>
  <PresentationFormat>Widescreen</PresentationFormat>
  <Paragraphs>409</Paragraphs>
  <Slides>65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Calibri Light</vt:lpstr>
      <vt:lpstr>Wingdings</vt:lpstr>
      <vt:lpstr>Office Theme</vt:lpstr>
      <vt:lpstr>TEI for Manuscript Description</vt:lpstr>
      <vt:lpstr>PowerPoint Presentation</vt:lpstr>
      <vt:lpstr>PowerPoint Presentation</vt:lpstr>
      <vt:lpstr>Background</vt:lpstr>
      <vt:lpstr>A range of possibilities</vt:lpstr>
      <vt:lpstr>Very widely used</vt:lpstr>
      <vt:lpstr>Used by …</vt:lpstr>
      <vt:lpstr>Work in progress …</vt:lpstr>
      <vt:lpstr>Other standards are available</vt:lpstr>
      <vt:lpstr>Points of discussion</vt:lpstr>
      <vt:lpstr>New to manuscript description?</vt:lpstr>
      <vt:lpstr>&lt;msDesc&gt; - the basics</vt:lpstr>
      <vt:lpstr>&lt;msDesc&gt; - the basics</vt:lpstr>
      <vt:lpstr>Structural vs Phrase-level elements</vt:lpstr>
      <vt:lpstr>PowerPoint Presentation</vt:lpstr>
      <vt:lpstr>&lt;msIdentifier&gt;</vt:lpstr>
      <vt:lpstr>PowerPoint Presentation</vt:lpstr>
      <vt:lpstr>PowerPoint Presentation</vt:lpstr>
      <vt:lpstr>Examples</vt:lpstr>
      <vt:lpstr>PowerPoint Presentation</vt:lpstr>
      <vt:lpstr>&lt;head&gt;</vt:lpstr>
      <vt:lpstr>PowerPoint Presentation</vt:lpstr>
      <vt:lpstr>PowerPoint Presentation</vt:lpstr>
      <vt:lpstr>&lt;msContents&gt;</vt:lpstr>
      <vt:lpstr>PowerPoint Presentation</vt:lpstr>
      <vt:lpstr>PowerPoint Presentation</vt:lpstr>
      <vt:lpstr>&lt;msItem&gt;</vt:lpstr>
      <vt:lpstr>Examples</vt:lpstr>
      <vt:lpstr>PowerPoint Presentation</vt:lpstr>
      <vt:lpstr>&lt;physDesc&gt;</vt:lpstr>
      <vt:lpstr>PowerPoint Presentation</vt:lpstr>
      <vt:lpstr>PowerPoint Presentation</vt:lpstr>
      <vt:lpstr>PowerPoint Presentation</vt:lpstr>
      <vt:lpstr>Examples</vt:lpstr>
      <vt:lpstr>PowerPoint Presentation</vt:lpstr>
      <vt:lpstr>PowerPoint Presentation</vt:lpstr>
      <vt:lpstr>Example</vt:lpstr>
      <vt:lpstr>PowerPoint Presentation</vt:lpstr>
      <vt:lpstr>PowerPoint Presentation</vt:lpstr>
      <vt:lpstr>Example</vt:lpstr>
      <vt:lpstr>PowerPoint Presentation</vt:lpstr>
      <vt:lpstr>PowerPoint Presentation</vt:lpstr>
      <vt:lpstr>Examples</vt:lpstr>
      <vt:lpstr>PowerPoint Presentation</vt:lpstr>
      <vt:lpstr>PowerPoint Presentation</vt:lpstr>
      <vt:lpstr>Example</vt:lpstr>
      <vt:lpstr>PowerPoint Presentation</vt:lpstr>
      <vt:lpstr>PowerPoint Presentation</vt:lpstr>
      <vt:lpstr>Example</vt:lpstr>
      <vt:lpstr>PowerPoint Presentation</vt:lpstr>
      <vt:lpstr>&lt;history&gt;</vt:lpstr>
      <vt:lpstr>PowerPoint Presentation</vt:lpstr>
      <vt:lpstr>PowerPoint Presentation</vt:lpstr>
      <vt:lpstr>Example</vt:lpstr>
      <vt:lpstr>PowerPoint Presentation</vt:lpstr>
      <vt:lpstr>Example</vt:lpstr>
      <vt:lpstr>PowerPoint Presentation</vt:lpstr>
      <vt:lpstr>&lt;additional&gt;</vt:lpstr>
      <vt:lpstr>PowerPoint Presentation</vt:lpstr>
      <vt:lpstr>PowerPoint Presentation</vt:lpstr>
      <vt:lpstr>Example</vt:lpstr>
      <vt:lpstr>PowerPoint Presentation</vt:lpstr>
      <vt:lpstr>Example</vt:lpstr>
      <vt:lpstr>Other options</vt:lpstr>
      <vt:lpstr>Standards and vocabularies</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TEI for Manuscript Description</dc:title>
  <dc:creator>Huw Jones</dc:creator>
  <cp:lastModifiedBy>Huw Jones</cp:lastModifiedBy>
  <cp:revision>58</cp:revision>
  <dcterms:created xsi:type="dcterms:W3CDTF">2017-06-25T09:57:40Z</dcterms:created>
  <dcterms:modified xsi:type="dcterms:W3CDTF">2017-07-05T08:16:38Z</dcterms:modified>
</cp:coreProperties>
</file>